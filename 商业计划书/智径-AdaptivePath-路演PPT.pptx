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57200" y="274320"/>
            <a:ext cx="137160" cy="137160"/>
          </a:xfrm>
          <a:prstGeom prst="ellipse">
            <a:avLst/>
          </a:prstGeom>
          <a:solidFill>
            <a:srgbClr val="007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22960" y="274320"/>
            <a:ext cx="137160" cy="13716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88720" y="274320"/>
            <a:ext cx="137160" cy="137160"/>
          </a:xfrm>
          <a:prstGeom prst="ellipse">
            <a:avLst/>
          </a:prstGeom>
          <a:solidFill>
            <a:srgbClr val="007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554480" y="274320"/>
            <a:ext cx="137160" cy="13716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920240" y="274320"/>
            <a:ext cx="137160" cy="137160"/>
          </a:xfrm>
          <a:prstGeom prst="ellipse">
            <a:avLst/>
          </a:prstGeom>
          <a:solidFill>
            <a:srgbClr val="007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"/>
            <a:ext cx="27432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0075FF"/>
                </a:solidFill>
                <a:latin typeface="Microsoft YaHei"/>
              </a:rPr>
              <a:t>🎓 智径 AdaptivePath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011680"/>
            <a:ext cx="10972800" cy="10972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6000" b="1">
                <a:solidFill>
                  <a:srgbClr val="FFFFFF"/>
                </a:solidFill>
                <a:latin typeface="Microsoft YaHei"/>
              </a:rPr>
              <a:t>智径 AdaptivePath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200400"/>
            <a:ext cx="1097280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400" b="0">
                <a:solidFill>
                  <a:srgbClr val="0075FF"/>
                </a:solidFill>
                <a:latin typeface="Microsoft YaHei"/>
              </a:rPr>
              <a:t>基于多智能体协同与认知诊断融合的自适应学习伴学智能体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840480"/>
            <a:ext cx="109728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0">
                <a:solidFill>
                  <a:srgbClr val="6B7280"/>
                </a:solidFill>
                <a:latin typeface="Microsoft YaHei"/>
              </a:rPr>
              <a:t>Multi-Agent Adaptive Learning Companion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029200"/>
            <a:ext cx="1828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6B7280"/>
                </a:solidFill>
                <a:latin typeface="Microsoft YaHei"/>
              </a:rPr>
              <a:t>赛道：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502920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Microsoft YaHei"/>
              </a:rPr>
              <a:t>科大讯飞 AI 开发者大赛 · 自适应学习路径决策与伴学智能体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394960"/>
            <a:ext cx="1828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6B7280"/>
                </a:solidFill>
                <a:latin typeface="Microsoft YaHei"/>
              </a:rPr>
              <a:t>作品类型：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86000" y="539496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Microsoft YaHei"/>
              </a:rPr>
              <a:t>AI Agent + 教育认知科学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760720"/>
            <a:ext cx="1828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6B7280"/>
                </a:solidFill>
                <a:latin typeface="Microsoft YaHei"/>
              </a:rPr>
              <a:t>团队：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86000" y="576072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Microsoft YaHei"/>
              </a:rPr>
              <a:t>崇理团队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126480"/>
            <a:ext cx="1828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6B7280"/>
                </a:solidFill>
                <a:latin typeface="Microsoft YaHei"/>
              </a:rPr>
              <a:t>日期：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86000" y="612648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Microsoft YaHei"/>
              </a:rPr>
              <a:t>2026 年 8 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07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200" b="1">
                <a:solidFill>
                  <a:srgbClr val="1F2937"/>
                </a:solidFill>
                <a:latin typeface="Microsoft YaHei"/>
              </a:rPr>
              <a:t>目录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Microsoft YaHei"/>
              </a:rPr>
              <a:t>CONTENTS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45920"/>
            <a:ext cx="7315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800" b="1">
                <a:solidFill>
                  <a:srgbClr val="0075FF"/>
                </a:solidFill>
                <a:latin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1691640"/>
            <a:ext cx="36576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000" b="1">
                <a:solidFill>
                  <a:srgbClr val="1F2937"/>
                </a:solidFill>
                <a:latin typeface="Microsoft YaHei"/>
              </a:rPr>
              <a:t>项目背景与洞察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1691640"/>
            <a:ext cx="6400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Microsoft YaHei"/>
              </a:rPr>
              <a:t>为什么需要重新思考 AI 教育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286000"/>
            <a:ext cx="7315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800" b="1">
                <a:solidFill>
                  <a:srgbClr val="0075FF"/>
                </a:solidFill>
                <a:latin typeface="Microsoft YaHei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331720"/>
            <a:ext cx="36576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000" b="1">
                <a:solidFill>
                  <a:srgbClr val="1F2937"/>
                </a:solidFill>
                <a:latin typeface="Microsoft YaHei"/>
              </a:rPr>
              <a:t>核心创新点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2331720"/>
            <a:ext cx="6400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Microsoft YaHei"/>
              </a:rPr>
              <a:t>CSN 三模型融合 + Bandit + Socratic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926080"/>
            <a:ext cx="7315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800" b="1">
                <a:solidFill>
                  <a:srgbClr val="0075FF"/>
                </a:solidFill>
                <a:latin typeface="Microsoft YaHei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2971800"/>
            <a:ext cx="36576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000" b="1">
                <a:solidFill>
                  <a:srgbClr val="1F2937"/>
                </a:solidFill>
                <a:latin typeface="Microsoft YaHei"/>
              </a:rPr>
              <a:t>系统架构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0" y="2971800"/>
            <a:ext cx="6400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Microsoft YaHei"/>
              </a:rPr>
              <a:t>5 智能体协同架构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566159"/>
            <a:ext cx="7315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800" b="1">
                <a:solidFill>
                  <a:srgbClr val="0075FF"/>
                </a:solidFill>
                <a:latin typeface="Microsoft YaHei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0" y="3611879"/>
            <a:ext cx="36576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000" b="1">
                <a:solidFill>
                  <a:srgbClr val="1F2937"/>
                </a:solidFill>
                <a:latin typeface="Microsoft YaHei"/>
              </a:rPr>
              <a:t>技术实现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0" y="3611879"/>
            <a:ext cx="6400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Microsoft YaHei"/>
              </a:rPr>
              <a:t>代码 + 公式 + 流程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206240"/>
            <a:ext cx="7315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800" b="1">
                <a:solidFill>
                  <a:srgbClr val="0075FF"/>
                </a:solidFill>
                <a:latin typeface="Microsoft YaHei"/>
              </a:rPr>
              <a:t>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45920" y="4251960"/>
            <a:ext cx="36576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000" b="1">
                <a:solidFill>
                  <a:srgbClr val="1F2937"/>
                </a:solidFill>
                <a:latin typeface="Microsoft YaHei"/>
              </a:rPr>
              <a:t>产品演示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0" y="4251960"/>
            <a:ext cx="6400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Microsoft YaHei"/>
              </a:rPr>
              <a:t>Web Demo 实操展示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846320"/>
            <a:ext cx="7315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800" b="1">
                <a:solidFill>
                  <a:srgbClr val="0075FF"/>
                </a:solidFill>
                <a:latin typeface="Microsoft YaHei"/>
              </a:rPr>
              <a:t>06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45920" y="4892040"/>
            <a:ext cx="36576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000" b="1">
                <a:solidFill>
                  <a:srgbClr val="1F2937"/>
                </a:solidFill>
                <a:latin typeface="Microsoft YaHei"/>
              </a:rPr>
              <a:t>市场与商业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0" y="4892040"/>
            <a:ext cx="6400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Microsoft YaHei"/>
              </a:rPr>
              <a:t>TAM/SAM/SOM + 商业模式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486399"/>
            <a:ext cx="7315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800" b="1">
                <a:solidFill>
                  <a:srgbClr val="0075FF"/>
                </a:solidFill>
                <a:latin typeface="Microsoft YaHei"/>
              </a:rPr>
              <a:t>07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45920" y="5532119"/>
            <a:ext cx="36576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000" b="1">
                <a:solidFill>
                  <a:srgbClr val="1F2937"/>
                </a:solidFill>
                <a:latin typeface="Microsoft YaHei"/>
              </a:rPr>
              <a:t>团队与未来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0" y="5532119"/>
            <a:ext cx="6400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Microsoft YaHei"/>
              </a:rPr>
              <a:t>团队 + 路线图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07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200" b="1">
                <a:solidFill>
                  <a:srgbClr val="1F2937"/>
                </a:solidFill>
                <a:latin typeface="Microsoft YaHei"/>
              </a:rPr>
              <a:t>01 项目背景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0">
                <a:solidFill>
                  <a:srgbClr val="6B7280"/>
                </a:solidFill>
                <a:latin typeface="Microsoft YaHei"/>
              </a:rPr>
              <a:t>教育大模型浪潮中的真实痛点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25880"/>
            <a:ext cx="548640" cy="36576"/>
          </a:xfrm>
          <a:prstGeom prst="rect">
            <a:avLst/>
          </a:prstGeom>
          <a:solidFill>
            <a:srgbClr val="007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645920"/>
            <a:ext cx="2651760" cy="1645920"/>
          </a:xfrm>
          <a:prstGeom prst="roundRect">
            <a:avLst/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783080"/>
            <a:ext cx="22860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4200" b="1">
                <a:solidFill>
                  <a:srgbClr val="0075FF"/>
                </a:solidFill>
                <a:latin typeface="Microsoft YaHei"/>
              </a:rPr>
              <a:t>5000亿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68880"/>
            <a:ext cx="228600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0">
                <a:solidFill>
                  <a:srgbClr val="1F2937"/>
                </a:solidFill>
                <a:latin typeface="Microsoft YaHei"/>
              </a:rPr>
              <a:t>中国 K12 在线教育市场规模（元）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91840" y="1645920"/>
            <a:ext cx="2651760" cy="1645920"/>
          </a:xfrm>
          <a:prstGeom prst="roundRect">
            <a:avLst/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74720" y="1783080"/>
            <a:ext cx="22860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4200" b="1">
                <a:solidFill>
                  <a:srgbClr val="0075FF"/>
                </a:solidFill>
                <a:latin typeface="Microsoft YaHei"/>
              </a:rPr>
              <a:t>90%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4720" y="2468880"/>
            <a:ext cx="228600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0">
                <a:solidFill>
                  <a:srgbClr val="1F2937"/>
                </a:solidFill>
                <a:latin typeface="Microsoft YaHei"/>
              </a:rPr>
              <a:t>现有 AI 教育产品仅做 LLM 套壳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6480" y="1645920"/>
            <a:ext cx="2651760" cy="1645920"/>
          </a:xfrm>
          <a:prstGeom prst="roundRect">
            <a:avLst/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0" y="1783080"/>
            <a:ext cx="22860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4200" b="1">
                <a:solidFill>
                  <a:srgbClr val="0075FF"/>
                </a:solidFill>
                <a:latin typeface="Microsoft YaHei"/>
              </a:rPr>
              <a:t>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2468880"/>
            <a:ext cx="228600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0">
                <a:solidFill>
                  <a:srgbClr val="1F2937"/>
                </a:solidFill>
                <a:latin typeface="Microsoft YaHei"/>
              </a:rPr>
              <a:t>真正拥有学生认知模型的 AI 教育产品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61120" y="1645920"/>
            <a:ext cx="2651760" cy="1645920"/>
          </a:xfrm>
          <a:prstGeom prst="roundRect">
            <a:avLst/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0" y="1783080"/>
            <a:ext cx="22860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4200" b="1">
                <a:solidFill>
                  <a:srgbClr val="0075FF"/>
                </a:solidFill>
                <a:latin typeface="Microsoft YaHei"/>
              </a:rPr>
              <a:t>200+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0" y="2468880"/>
            <a:ext cx="228600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0">
                <a:solidFill>
                  <a:srgbClr val="1F2937"/>
                </a:solidFill>
                <a:latin typeface="Microsoft YaHei"/>
              </a:rPr>
              <a:t>教育认知科学可借鉴的方法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3657600"/>
            <a:ext cx="109728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200" b="1">
                <a:solidFill>
                  <a:srgbClr val="1F2937"/>
                </a:solidFill>
                <a:latin typeface="Microsoft YaHei"/>
              </a:rPr>
              <a:t>现有 AI 教育产品的四大通病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4297680"/>
            <a:ext cx="2651760" cy="20116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4434840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800" b="0">
                <a:solidFill>
                  <a:srgbClr val="EF4444"/>
                </a:solidFill>
                <a:latin typeface="Microsoft YaHei"/>
              </a:rPr>
              <a:t>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4937760"/>
            <a:ext cx="22860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1F2937"/>
                </a:solidFill>
                <a:latin typeface="Microsoft YaHei"/>
              </a:rPr>
              <a:t>无学情诊断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5349240"/>
            <a:ext cx="2286000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Microsoft YaHei"/>
              </a:rPr>
              <a:t>把学生当答题机器，不了解掌握度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91840" y="4297680"/>
            <a:ext cx="2651760" cy="20116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74720" y="4434840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800" b="0">
                <a:solidFill>
                  <a:srgbClr val="EF4444"/>
                </a:solidFill>
                <a:latin typeface="Microsoft YaHei"/>
              </a:rPr>
              <a:t>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74720" y="4937760"/>
            <a:ext cx="22860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1F2937"/>
                </a:solidFill>
                <a:latin typeface="Microsoft YaHei"/>
              </a:rPr>
              <a:t>路径千篇一律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74720" y="5349240"/>
            <a:ext cx="2286000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Microsoft YaHei"/>
              </a:rPr>
              <a:t>知识图谱推荐，不考虑学生差异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26480" y="4297680"/>
            <a:ext cx="2651760" cy="20116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09360" y="4434840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800" b="0">
                <a:solidFill>
                  <a:srgbClr val="EF4444"/>
                </a:solidFill>
                <a:latin typeface="Microsoft YaHei"/>
              </a:rPr>
              <a:t>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9360" y="4937760"/>
            <a:ext cx="22860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1F2937"/>
                </a:solidFill>
                <a:latin typeface="Microsoft YaHei"/>
              </a:rPr>
              <a:t>灌输式教学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9360" y="5349240"/>
            <a:ext cx="2286000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Microsoft YaHei"/>
              </a:rPr>
              <a:t>直接给答案，违背 ZPD 原则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961120" y="4297680"/>
            <a:ext cx="2651760" cy="20116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144000" y="4434840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800" b="0">
                <a:solidFill>
                  <a:srgbClr val="EF4444"/>
                </a:solidFill>
                <a:latin typeface="Microsoft YaHei"/>
              </a:rPr>
              <a:t>❌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4937760"/>
            <a:ext cx="22860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1F2937"/>
                </a:solidFill>
                <a:latin typeface="Microsoft YaHei"/>
              </a:rPr>
              <a:t>忽视情感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0" y="5349240"/>
            <a:ext cx="2286000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Microsoft YaHei"/>
              </a:rPr>
              <a:t>挫败时继续推难题，体验差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07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200" b="1">
                <a:solidFill>
                  <a:srgbClr val="1F2937"/>
                </a:solidFill>
                <a:latin typeface="Microsoft YaHei"/>
              </a:rPr>
              <a:t>02 核心创新点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0">
                <a:solidFill>
                  <a:srgbClr val="6B7280"/>
                </a:solidFill>
                <a:latin typeface="Microsoft YaHei"/>
              </a:rPr>
              <a:t>五大维度全面超越 LLM 套壳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25880"/>
            <a:ext cx="548640" cy="36576"/>
          </a:xfrm>
          <a:prstGeom prst="rect">
            <a:avLst/>
          </a:prstGeom>
          <a:solidFill>
            <a:srgbClr val="007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5760" y="1828800"/>
            <a:ext cx="2194560" cy="4389120"/>
          </a:xfrm>
          <a:prstGeom prst="roundRect">
            <a:avLst/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828800"/>
            <a:ext cx="2194560" cy="91440"/>
          </a:xfrm>
          <a:prstGeom prst="rect">
            <a:avLst/>
          </a:prstGeom>
          <a:solidFill>
            <a:srgbClr val="007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103120"/>
            <a:ext cx="73152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4200" b="0">
                <a:solidFill>
                  <a:srgbClr val="0075FF"/>
                </a:solidFill>
                <a:latin typeface="Microsoft YaHei"/>
              </a:rPr>
              <a:t>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017520"/>
            <a:ext cx="201168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000" b="1">
                <a:solidFill>
                  <a:srgbClr val="1F2937"/>
                </a:solidFill>
                <a:latin typeface="Microsoft YaHei"/>
              </a:rPr>
              <a:t>CSN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474720"/>
            <a:ext cx="201168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1">
                <a:solidFill>
                  <a:srgbClr val="0075FF"/>
                </a:solidFill>
                <a:latin typeface="Microsoft YaHei"/>
              </a:rPr>
              <a:t>三模型融合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3931920"/>
            <a:ext cx="1097280" cy="27432"/>
          </a:xfrm>
          <a:prstGeom prst="rect">
            <a:avLst/>
          </a:prstGeom>
          <a:solidFill>
            <a:srgbClr val="007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4114800"/>
            <a:ext cx="1828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400" b="1">
                <a:solidFill>
                  <a:srgbClr val="1F2937"/>
                </a:solidFill>
                <a:latin typeface="Microsoft YaHei"/>
              </a:rPr>
              <a:t>DKT × BKT × IRT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572000"/>
            <a:ext cx="1828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0">
                <a:solidFill>
                  <a:srgbClr val="6B7280"/>
                </a:solidFill>
                <a:latin typeface="Microsoft YaHei"/>
              </a:rPr>
              <a:t>样本量自适应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303520"/>
            <a:ext cx="18288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400" b="1">
                <a:solidFill>
                  <a:srgbClr val="0075FF"/>
                </a:solidFill>
                <a:latin typeface="Microsoft YaHei"/>
              </a:rPr>
              <a:t>5 模型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697479" y="1828800"/>
            <a:ext cx="2194560" cy="4389120"/>
          </a:xfrm>
          <a:prstGeom prst="roundRect">
            <a:avLst/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697479" y="1828800"/>
            <a:ext cx="2194560" cy="914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28999" y="2103120"/>
            <a:ext cx="73152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4200" b="0">
                <a:solidFill>
                  <a:srgbClr val="10B981"/>
                </a:solidFill>
                <a:latin typeface="Microsoft YaHei"/>
              </a:rPr>
              <a:t>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88919" y="3017520"/>
            <a:ext cx="201168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000" b="1">
                <a:solidFill>
                  <a:srgbClr val="1F2937"/>
                </a:solidFill>
                <a:latin typeface="Microsoft YaHei"/>
              </a:rPr>
              <a:t>Bandit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88919" y="3474720"/>
            <a:ext cx="201168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1">
                <a:solidFill>
                  <a:srgbClr val="10B981"/>
                </a:solidFill>
                <a:latin typeface="Microsoft YaHei"/>
              </a:rPr>
              <a:t>在线路径优化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46119" y="3931920"/>
            <a:ext cx="1097280" cy="2743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880359" y="4114800"/>
            <a:ext cx="1828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400" b="1">
                <a:solidFill>
                  <a:srgbClr val="1F2937"/>
                </a:solidFill>
                <a:latin typeface="Microsoft YaHei"/>
              </a:rPr>
              <a:t>Contextual Bandit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80359" y="4572000"/>
            <a:ext cx="1828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0">
                <a:solidFill>
                  <a:srgbClr val="6B7280"/>
                </a:solidFill>
                <a:latin typeface="Microsoft YaHei"/>
              </a:rPr>
              <a:t>冷启动友好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80359" y="5303520"/>
            <a:ext cx="18288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400" b="1">
                <a:solidFill>
                  <a:srgbClr val="10B981"/>
                </a:solidFill>
                <a:latin typeface="Microsoft YaHei"/>
              </a:rPr>
              <a:t>32 维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0" y="1828800"/>
            <a:ext cx="2194560" cy="4389120"/>
          </a:xfrm>
          <a:prstGeom prst="roundRect">
            <a:avLst/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029200" y="1828800"/>
            <a:ext cx="2194560" cy="914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60720" y="2103120"/>
            <a:ext cx="73152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4200" b="0">
                <a:solidFill>
                  <a:srgbClr val="F59E0B"/>
                </a:solidFill>
                <a:latin typeface="Microsoft YaHei"/>
              </a:rPr>
              <a:t>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20640" y="3017520"/>
            <a:ext cx="201168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000" b="1">
                <a:solidFill>
                  <a:srgbClr val="1F2937"/>
                </a:solidFill>
                <a:latin typeface="Microsoft YaHei"/>
              </a:rPr>
              <a:t>Socratic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20640" y="3474720"/>
            <a:ext cx="201168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1">
                <a:solidFill>
                  <a:srgbClr val="F59E0B"/>
                </a:solidFill>
                <a:latin typeface="Microsoft YaHei"/>
              </a:rPr>
              <a:t>苏格拉底式教学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577840" y="3931920"/>
            <a:ext cx="1097280" cy="2743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212080" y="4114800"/>
            <a:ext cx="1828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400" b="1">
                <a:solidFill>
                  <a:srgbClr val="1F2937"/>
                </a:solidFill>
                <a:latin typeface="Microsoft YaHei"/>
              </a:rPr>
              <a:t>5 级脚手架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80" y="4572000"/>
            <a:ext cx="1828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0">
                <a:solidFill>
                  <a:srgbClr val="6B7280"/>
                </a:solidFill>
                <a:latin typeface="Microsoft YaHei"/>
              </a:rPr>
              <a:t>Bloom 适配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12080" y="5303520"/>
            <a:ext cx="18288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400" b="1">
                <a:solidFill>
                  <a:srgbClr val="F59E0B"/>
                </a:solidFill>
                <a:latin typeface="Microsoft YaHei"/>
              </a:rPr>
              <a:t>5 阶段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360919" y="1828800"/>
            <a:ext cx="2194560" cy="4389120"/>
          </a:xfrm>
          <a:prstGeom prst="roundRect">
            <a:avLst/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360919" y="1828800"/>
            <a:ext cx="2194560" cy="9144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092439" y="2103120"/>
            <a:ext cx="73152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4200" b="0">
                <a:solidFill>
                  <a:srgbClr val="EF4444"/>
                </a:solidFill>
                <a:latin typeface="Microsoft YaHei"/>
              </a:rPr>
              <a:t>❤️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52359" y="3017520"/>
            <a:ext cx="201168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000" b="1">
                <a:solidFill>
                  <a:srgbClr val="1F2937"/>
                </a:solidFill>
                <a:latin typeface="Microsoft YaHei"/>
              </a:rPr>
              <a:t>Affective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52359" y="3474720"/>
            <a:ext cx="201168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1">
                <a:solidFill>
                  <a:srgbClr val="EF4444"/>
                </a:solidFill>
                <a:latin typeface="Microsoft YaHei"/>
              </a:rPr>
              <a:t>情感计算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09559" y="3931920"/>
            <a:ext cx="1097280" cy="27432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543799" y="4114800"/>
            <a:ext cx="1828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400" b="1">
                <a:solidFill>
                  <a:srgbClr val="1F2937"/>
                </a:solidFill>
                <a:latin typeface="Microsoft YaHei"/>
              </a:rPr>
              <a:t>5 维实时感知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543799" y="4572000"/>
            <a:ext cx="1828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0">
                <a:solidFill>
                  <a:srgbClr val="6B7280"/>
                </a:solidFill>
                <a:latin typeface="Microsoft YaHei"/>
              </a:rPr>
              <a:t>影响教学节奏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543799" y="5303520"/>
            <a:ext cx="18288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400" b="1">
                <a:solidFill>
                  <a:srgbClr val="EF4444"/>
                </a:solidFill>
                <a:latin typeface="Microsoft YaHei"/>
              </a:rPr>
              <a:t>5 维度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692640" y="1828800"/>
            <a:ext cx="2194560" cy="4389120"/>
          </a:xfrm>
          <a:prstGeom prst="roundRect">
            <a:avLst/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9692640" y="1828800"/>
            <a:ext cx="2194560" cy="91440"/>
          </a:xfrm>
          <a:prstGeom prst="rect">
            <a:avLst/>
          </a:prstGeom>
          <a:solidFill>
            <a:srgbClr val="007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424160" y="2103120"/>
            <a:ext cx="73152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4200" b="0">
                <a:solidFill>
                  <a:srgbClr val="0075FF"/>
                </a:solidFill>
                <a:latin typeface="Microsoft YaHei"/>
              </a:rPr>
              <a:t>🔍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784080" y="3017520"/>
            <a:ext cx="201168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000" b="1">
                <a:solidFill>
                  <a:srgbClr val="1F2937"/>
                </a:solidFill>
                <a:latin typeface="Microsoft YaHei"/>
              </a:rPr>
              <a:t>XAI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784080" y="3474720"/>
            <a:ext cx="201168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1">
                <a:solidFill>
                  <a:srgbClr val="0075FF"/>
                </a:solidFill>
                <a:latin typeface="Microsoft YaHei"/>
              </a:rPr>
              <a:t>完整可解释性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0241280" y="3931920"/>
            <a:ext cx="1097280" cy="27432"/>
          </a:xfrm>
          <a:prstGeom prst="rect">
            <a:avLst/>
          </a:prstGeom>
          <a:solidFill>
            <a:srgbClr val="007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875520" y="4114800"/>
            <a:ext cx="1828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400" b="1">
                <a:solidFill>
                  <a:srgbClr val="1F2937"/>
                </a:solidFill>
                <a:latin typeface="Microsoft YaHei"/>
              </a:rPr>
              <a:t>每次推荐有理由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875520" y="4572000"/>
            <a:ext cx="1828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0">
                <a:solidFill>
                  <a:srgbClr val="6B7280"/>
                </a:solidFill>
                <a:latin typeface="Microsoft YaHei"/>
              </a:rPr>
              <a:t>可追溯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875520" y="5303520"/>
            <a:ext cx="18288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400" b="1">
                <a:solidFill>
                  <a:srgbClr val="0075FF"/>
                </a:solidFill>
                <a:latin typeface="Microsoft YaHei"/>
              </a:rPr>
              <a:t>100%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400" b="1">
                <a:solidFill>
                  <a:srgbClr val="1F2937"/>
                </a:solidFill>
                <a:latin typeface="Microsoft YaHei"/>
              </a:rPr>
              <a:t>💎 不是堆叠名词，是工程级深度融合：每行代码都对应一篇经典论文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07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200" b="1">
                <a:solidFill>
                  <a:srgbClr val="1F2937"/>
                </a:solidFill>
                <a:latin typeface="Microsoft YaHei"/>
              </a:rPr>
              <a:t>创新 1：CSN 三模型融合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0">
                <a:solidFill>
                  <a:srgbClr val="6B7280"/>
                </a:solidFill>
                <a:latin typeface="Microsoft YaHei"/>
              </a:rPr>
              <a:t>BKT × DKT × IRT 自适应加权融合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25880"/>
            <a:ext cx="548640" cy="36576"/>
          </a:xfrm>
          <a:prstGeom prst="rect">
            <a:avLst/>
          </a:prstGeom>
          <a:solidFill>
            <a:srgbClr val="007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828800"/>
            <a:ext cx="5029200" cy="1097280"/>
          </a:xfrm>
          <a:prstGeom prst="roundRect">
            <a:avLst/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40080" y="2103120"/>
            <a:ext cx="548640" cy="548640"/>
          </a:xfrm>
          <a:prstGeom prst="ellipse">
            <a:avLst/>
          </a:prstGeom>
          <a:solidFill>
            <a:srgbClr val="007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36576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0075FF"/>
                </a:solidFill>
                <a:latin typeface="Microsoft YaHei"/>
              </a:rPr>
              <a:t>BKT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28600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Microsoft YaHei"/>
              </a:rPr>
              <a:t>Bayesian Knowledge Tracing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2514600"/>
            <a:ext cx="36576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1F2937"/>
                </a:solidFill>
                <a:latin typeface="Microsoft YaHei"/>
              </a:rPr>
              <a:t>4 状态 HMM，冷启动友好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2103120"/>
            <a:ext cx="22860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200" b="1">
                <a:solidFill>
                  <a:srgbClr val="0075FF"/>
                </a:solidFill>
                <a:latin typeface="Microsoft YaHei"/>
              </a:rPr>
              <a:t>P(L_t | obs) =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108960"/>
            <a:ext cx="5029200" cy="1097280"/>
          </a:xfrm>
          <a:prstGeom prst="roundRect">
            <a:avLst/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0080" y="3383280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3246120"/>
            <a:ext cx="36576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10B981"/>
                </a:solidFill>
                <a:latin typeface="Microsoft YaHei"/>
              </a:rPr>
              <a:t>DKT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56616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Microsoft YaHei"/>
              </a:rPr>
              <a:t>Deep Knowledge Tracing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3794760"/>
            <a:ext cx="36576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1F2937"/>
                </a:solidFill>
                <a:latin typeface="Microsoft YaHei"/>
              </a:rPr>
              <a:t>LSTM，长程记忆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3383280"/>
            <a:ext cx="22860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200" b="1">
                <a:solidFill>
                  <a:srgbClr val="10B981"/>
                </a:solidFill>
                <a:latin typeface="Microsoft YaHei"/>
              </a:rPr>
              <a:t>h_t = LSTM(x_t, h_{t-1})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4389120"/>
            <a:ext cx="5029200" cy="1097280"/>
          </a:xfrm>
          <a:prstGeom prst="roundRect">
            <a:avLst/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40080" y="466344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4526280"/>
            <a:ext cx="36576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F59E0B"/>
                </a:solidFill>
                <a:latin typeface="Microsoft YaHei"/>
              </a:rPr>
              <a:t>IRT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484632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Microsoft YaHei"/>
              </a:rPr>
              <a:t>Item Response Theory 2PL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5074920"/>
            <a:ext cx="36576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1F2937"/>
                </a:solidFill>
                <a:latin typeface="Microsoft YaHei"/>
              </a:rPr>
              <a:t>全局能力估计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4663440"/>
            <a:ext cx="22860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200" b="1">
                <a:solidFill>
                  <a:srgbClr val="F59E0B"/>
                </a:solidFill>
                <a:latin typeface="Microsoft YaHei"/>
              </a:rPr>
              <a:t>P(θ) = σ(a(θ-b))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1828800"/>
            <a:ext cx="59436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000" b="1">
                <a:solidFill>
                  <a:srgbClr val="1F2937"/>
                </a:solidFill>
                <a:latin typeface="Microsoft YaHei"/>
              </a:rPr>
              <a:t>自适应加权融合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943600" y="2468880"/>
            <a:ext cx="5943600" cy="1188720"/>
          </a:xfrm>
          <a:prstGeom prst="roundRect">
            <a:avLst/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26480" y="2606040"/>
            <a:ext cx="557784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1">
                <a:solidFill>
                  <a:srgbClr val="1F2937"/>
                </a:solidFill>
                <a:latin typeface="Consolas"/>
              </a:rPr>
              <a:t>mastery = w_dkt·dkt_p + w_bkt·bkt_p + w_irt·irt_p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26480" y="2971800"/>
            <a:ext cx="557784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1F2937"/>
                </a:solidFill>
                <a:latin typeface="Consolas"/>
              </a:rPr>
              <a:t>confidence = 1 / (1 + 10·Var([dkt_p, bkt_p, irt_p]))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26480" y="3337560"/>
            <a:ext cx="55778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Microsoft YaHei"/>
              </a:rPr>
              <a:t>(置信度基于三模型方差，样本量自适应)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0" y="3840480"/>
            <a:ext cx="59436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1">
                <a:solidFill>
                  <a:srgbClr val="1F2937"/>
                </a:solidFill>
                <a:latin typeface="Microsoft YaHei"/>
              </a:rPr>
              <a:t>样本量自适应权重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943600" y="4297680"/>
            <a:ext cx="1828800" cy="1828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43600" y="4434840"/>
            <a:ext cx="1828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0075FF"/>
                </a:solidFill>
                <a:latin typeface="Microsoft YaHei"/>
              </a:rPr>
              <a:t>n&lt;5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0" y="4846320"/>
            <a:ext cx="1828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100" b="0">
                <a:solidFill>
                  <a:srgbClr val="1F2937"/>
                </a:solidFill>
                <a:latin typeface="Consolas"/>
              </a:rPr>
              <a:t>(0.2, 0.5, 0.3)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309360" y="5212080"/>
            <a:ext cx="1097280" cy="18288"/>
          </a:xfrm>
          <a:prstGeom prst="rect">
            <a:avLst/>
          </a:prstGeom>
          <a:solidFill>
            <a:srgbClr val="007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943600" y="5349240"/>
            <a:ext cx="182880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1">
                <a:solidFill>
                  <a:srgbClr val="1F2937"/>
                </a:solidFill>
                <a:latin typeface="Microsoft YaHei"/>
              </a:rPr>
              <a:t>BKT 主导
冷启动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955279" y="4297680"/>
            <a:ext cx="1828800" cy="1828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955279" y="4434840"/>
            <a:ext cx="1828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10B981"/>
                </a:solidFill>
                <a:latin typeface="Microsoft YaHei"/>
              </a:rPr>
              <a:t>5≤n&lt;20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955279" y="4846320"/>
            <a:ext cx="1828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100" b="0">
                <a:solidFill>
                  <a:srgbClr val="1F2937"/>
                </a:solidFill>
                <a:latin typeface="Consolas"/>
              </a:rPr>
              <a:t>(0.4, 0.3, 0.3)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321039" y="5212080"/>
            <a:ext cx="1097280" cy="1828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955279" y="5349240"/>
            <a:ext cx="182880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1">
                <a:solidFill>
                  <a:srgbClr val="1F2937"/>
                </a:solidFill>
                <a:latin typeface="Microsoft YaHei"/>
              </a:rPr>
              <a:t>三模型
等权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966960" y="4297680"/>
            <a:ext cx="1828800" cy="1828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966960" y="4434840"/>
            <a:ext cx="1828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F59E0B"/>
                </a:solidFill>
                <a:latin typeface="Microsoft YaHei"/>
              </a:rPr>
              <a:t>n≥20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966960" y="4846320"/>
            <a:ext cx="1828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100" b="0">
                <a:solidFill>
                  <a:srgbClr val="1F2937"/>
                </a:solidFill>
                <a:latin typeface="Consolas"/>
              </a:rPr>
              <a:t>(0.5, 0.2, 0.3)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332720" y="5212080"/>
            <a:ext cx="1097280" cy="1828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966960" y="5349240"/>
            <a:ext cx="182880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1">
                <a:solidFill>
                  <a:srgbClr val="1F2937"/>
                </a:solidFill>
                <a:latin typeface="Microsoft YaHei"/>
              </a:rPr>
              <a:t>DKT 主导
长程依赖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7200" y="6309360"/>
            <a:ext cx="112471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400" b="1">
                <a:solidFill>
                  <a:srgbClr val="0075FF"/>
                </a:solidFill>
                <a:latin typeface="Microsoft YaHei"/>
              </a:rPr>
              <a:t>✨ 业内首次：将三种认知诊断模型在同一系统内自适应融合 + 置信度估计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07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200" b="1">
                <a:solidFill>
                  <a:srgbClr val="1F2937"/>
                </a:solidFill>
                <a:latin typeface="Microsoft YaHei"/>
              </a:rPr>
              <a:t>创新 2：Contextual Bandit 路径优化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0">
                <a:solidFill>
                  <a:srgbClr val="6B7280"/>
                </a:solidFill>
                <a:latin typeface="Microsoft YaHei"/>
              </a:rPr>
              <a:t>在线学习最优推荐策略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25880"/>
            <a:ext cx="548640" cy="36576"/>
          </a:xfrm>
          <a:prstGeom prst="rect">
            <a:avLst/>
          </a:prstGeom>
          <a:solidFill>
            <a:srgbClr val="007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828800"/>
            <a:ext cx="54864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000" b="1">
                <a:solidFill>
                  <a:srgbClr val="1F2937"/>
                </a:solidFill>
                <a:latin typeface="Microsoft YaHei"/>
              </a:rPr>
              <a:t>🎯 核心问题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286000"/>
            <a:ext cx="54864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1F2937"/>
                </a:solidFill>
                <a:latin typeface="Microsoft YaHei"/>
              </a:rPr>
              <a:t>如何为每个学生在线学习最优的下一步推荐？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926080"/>
            <a:ext cx="54864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000" b="1">
                <a:solidFill>
                  <a:srgbClr val="0075FF"/>
                </a:solidFill>
                <a:latin typeface="Microsoft YaHei"/>
              </a:rPr>
              <a:t>💡 方案：Contextual Bandit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474720"/>
            <a:ext cx="1828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0075FF"/>
                </a:solidFill>
                <a:latin typeface="Microsoft YaHei"/>
              </a:rPr>
              <a:t>Context (上下文)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68880" y="347472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1F2937"/>
                </a:solidFill>
                <a:latin typeface="Microsoft YaHei"/>
              </a:rPr>
              <a:t>x ∈ R³²: 学生状态向量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840480"/>
            <a:ext cx="1828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0075FF"/>
                </a:solidFill>
                <a:latin typeface="Microsoft YaHei"/>
              </a:rPr>
              <a:t>Action (动作)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68880" y="38404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1F2937"/>
                </a:solidFill>
                <a:latin typeface="Microsoft YaHei"/>
              </a:rPr>
              <a:t>a ∈ A: 候选知识点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206240"/>
            <a:ext cx="1828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0075FF"/>
                </a:solidFill>
                <a:latin typeface="Microsoft YaHei"/>
              </a:rPr>
              <a:t>Reward (奖励)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68880" y="420624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1F2937"/>
                </a:solidFill>
                <a:latin typeface="Microsoft YaHei"/>
              </a:rPr>
              <a:t>r: 学习收益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572000"/>
            <a:ext cx="1828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0075FF"/>
                </a:solidFill>
                <a:latin typeface="Microsoft YaHei"/>
              </a:rPr>
              <a:t>Algorithm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68880" y="457200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1F2937"/>
                </a:solidFill>
                <a:latin typeface="Microsoft YaHei"/>
              </a:rPr>
              <a:t>LinUCB (Linear Upper Confidence Bound)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212080"/>
            <a:ext cx="5486400" cy="1371600"/>
          </a:xfrm>
          <a:prstGeom prst="roundRect">
            <a:avLst/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5349240"/>
            <a:ext cx="512064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0075FF"/>
                </a:solidFill>
                <a:latin typeface="Microsoft YaHei"/>
              </a:rPr>
              <a:t>LinUCB 选择规则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715000"/>
            <a:ext cx="512064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1">
                <a:solidFill>
                  <a:srgbClr val="1F2937"/>
                </a:solidFill>
                <a:latin typeface="Consolas"/>
              </a:rPr>
              <a:t>a* = argmax_a [ θ_a^T x + α √(x^T A_a⁻¹ x) 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172200"/>
            <a:ext cx="512064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Microsoft YaHei"/>
              </a:rPr>
              <a:t>利用 + 探索 + 理论保证（O(√T) regret bound）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1828800"/>
            <a:ext cx="54864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000" b="1">
                <a:solidFill>
                  <a:srgbClr val="1F2937"/>
                </a:solidFill>
                <a:latin typeface="Microsoft YaHei"/>
              </a:rPr>
              <a:t>🌱 ZPD 融合（Vygotsky）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0" y="2468880"/>
            <a:ext cx="5486400" cy="1371600"/>
          </a:xfrm>
          <a:prstGeom prst="roundRect">
            <a:avLst/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0" y="2606040"/>
            <a:ext cx="512064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10B981"/>
                </a:solidFill>
                <a:latin typeface="Microsoft YaHei"/>
              </a:rPr>
              <a:t>ZPD 分数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0" y="2971800"/>
            <a:ext cx="512064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1F2937"/>
                </a:solidFill>
                <a:latin typeface="Consolas"/>
              </a:rPr>
              <a:t>zpd(θ, d) = exp(-((d - θ - 0.4)² / 0.2))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3429000"/>
            <a:ext cx="512064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Microsoft YaHei"/>
              </a:rPr>
              <a:t>差距 0.4：略感挑战但可完成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4114800"/>
            <a:ext cx="54864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000" b="1">
                <a:solidFill>
                  <a:srgbClr val="1F2937"/>
                </a:solidFill>
                <a:latin typeface="Microsoft YaHei"/>
              </a:rPr>
              <a:t>💪 优势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0" y="4663440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1F2937"/>
                </a:solidFill>
                <a:latin typeface="Microsoft YaHei"/>
              </a:rPr>
              <a:t>✅ 冷启动友好 - 无需离线训练数据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0" y="4983479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1F2937"/>
                </a:solidFill>
                <a:latin typeface="Microsoft YaHei"/>
              </a:rPr>
              <a:t>✅ 在线学习 - 每步可更新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0" y="5303520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1F2937"/>
                </a:solidFill>
                <a:latin typeface="Microsoft YaHei"/>
              </a:rPr>
              <a:t>✅ 理论保证 - regret bound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0" y="5623559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1F2937"/>
                </a:solidFill>
                <a:latin typeface="Microsoft YaHei"/>
              </a:rPr>
              <a:t>✅ ZPD 过滤 - 避免过易/过难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5943600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1F2937"/>
                </a:solidFill>
                <a:latin typeface="Microsoft YaHei"/>
              </a:rPr>
              <a:t>✅ 可解释 - 每个推荐都有 UCB 分数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07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200" b="1">
                <a:solidFill>
                  <a:srgbClr val="1F2937"/>
                </a:solidFill>
                <a:latin typeface="Microsoft YaHei"/>
              </a:rPr>
              <a:t>创新 3：苏格拉底式支架教学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0">
                <a:solidFill>
                  <a:srgbClr val="6B7280"/>
                </a:solidFill>
                <a:latin typeface="Microsoft YaHei"/>
              </a:rPr>
              <a:t>永远不直接给答案，但会渐进逼近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25880"/>
            <a:ext cx="548640" cy="36576"/>
          </a:xfrm>
          <a:prstGeom prst="rect">
            <a:avLst/>
          </a:prstGeom>
          <a:solidFill>
            <a:srgbClr val="007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73736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1F2937"/>
                </a:solidFill>
                <a:latin typeface="Microsoft YaHei"/>
              </a:rPr>
              <a:t>5 阶段对话状态机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194560"/>
            <a:ext cx="2194560" cy="1097280"/>
          </a:xfrm>
          <a:prstGeom prst="roundRect">
            <a:avLst/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2286000"/>
            <a:ext cx="219456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600" b="1">
                <a:solidFill>
                  <a:srgbClr val="0075FF"/>
                </a:solidFill>
                <a:latin typeface="Microsoft YaHei"/>
              </a:rPr>
              <a:t>DIAGNOSE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788920"/>
            <a:ext cx="219456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300" b="0">
                <a:solidFill>
                  <a:srgbClr val="1F2937"/>
                </a:solidFill>
                <a:latin typeface="Microsoft YaHei"/>
              </a:rPr>
              <a:t>了解认知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606040" y="2606040"/>
            <a:ext cx="182880" cy="274320"/>
          </a:xfrm>
          <a:prstGeom prst="rightArrow">
            <a:avLst/>
          </a:prstGeom>
          <a:solidFill>
            <a:srgbClr val="007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788920" y="2194560"/>
            <a:ext cx="2194560" cy="1097280"/>
          </a:xfrm>
          <a:prstGeom prst="roundRect">
            <a:avLst/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88920" y="2286000"/>
            <a:ext cx="219456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600" b="1">
                <a:solidFill>
                  <a:srgbClr val="0075FF"/>
                </a:solidFill>
                <a:latin typeface="Microsoft YaHei"/>
              </a:rPr>
              <a:t>PROBE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88920" y="2788920"/>
            <a:ext cx="219456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300" b="0">
                <a:solidFill>
                  <a:srgbClr val="1F2937"/>
                </a:solidFill>
                <a:latin typeface="Microsoft YaHei"/>
              </a:rPr>
              <a:t>反诘深入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4937760" y="2606040"/>
            <a:ext cx="182880" cy="274320"/>
          </a:xfrm>
          <a:prstGeom prst="rightArrow">
            <a:avLst/>
          </a:prstGeom>
          <a:solidFill>
            <a:srgbClr val="007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120640" y="2194560"/>
            <a:ext cx="2194560" cy="1097280"/>
          </a:xfrm>
          <a:prstGeom prst="roundRect">
            <a:avLst/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0" y="2286000"/>
            <a:ext cx="219456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600" b="1">
                <a:solidFill>
                  <a:srgbClr val="0075FF"/>
                </a:solidFill>
                <a:latin typeface="Microsoft YaHei"/>
              </a:rPr>
              <a:t>HINT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20640" y="2788920"/>
            <a:ext cx="219456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300" b="0">
                <a:solidFill>
                  <a:srgbClr val="1F2937"/>
                </a:solidFill>
                <a:latin typeface="Microsoft YaHei"/>
              </a:rPr>
              <a:t>关键提示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7269479" y="2606040"/>
            <a:ext cx="182880" cy="274320"/>
          </a:xfrm>
          <a:prstGeom prst="rightArrow">
            <a:avLst/>
          </a:prstGeom>
          <a:solidFill>
            <a:srgbClr val="007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452359" y="2194560"/>
            <a:ext cx="2194560" cy="1097280"/>
          </a:xfrm>
          <a:prstGeom prst="roundRect">
            <a:avLst/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52359" y="2286000"/>
            <a:ext cx="219456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600" b="1">
                <a:solidFill>
                  <a:srgbClr val="0075FF"/>
                </a:solidFill>
                <a:latin typeface="Microsoft YaHei"/>
              </a:rPr>
              <a:t>CONFIRM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52359" y="2788920"/>
            <a:ext cx="219456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300" b="0">
                <a:solidFill>
                  <a:srgbClr val="1F2937"/>
                </a:solidFill>
                <a:latin typeface="Microsoft YaHei"/>
              </a:rPr>
              <a:t>检验理解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9601200" y="2606040"/>
            <a:ext cx="182880" cy="274320"/>
          </a:xfrm>
          <a:prstGeom prst="rightArrow">
            <a:avLst/>
          </a:prstGeom>
          <a:solidFill>
            <a:srgbClr val="007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784080" y="2194560"/>
            <a:ext cx="2194560" cy="1097280"/>
          </a:xfrm>
          <a:prstGeom prst="roundRect">
            <a:avLst/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84080" y="2286000"/>
            <a:ext cx="219456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600" b="1">
                <a:solidFill>
                  <a:srgbClr val="0075FF"/>
                </a:solidFill>
                <a:latin typeface="Microsoft YaHei"/>
              </a:rPr>
              <a:t>REFLECT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84080" y="2788920"/>
            <a:ext cx="219456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300" b="0">
                <a:solidFill>
                  <a:srgbClr val="1F2937"/>
                </a:solidFill>
                <a:latin typeface="Microsoft YaHei"/>
              </a:rPr>
              <a:t>元反思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356616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1F2937"/>
                </a:solidFill>
                <a:latin typeface="Microsoft YaHei"/>
              </a:rPr>
              <a:t>5 级动态脚手架（基于 Bloom 认知分类）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4023360"/>
            <a:ext cx="2194560" cy="2377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40080" y="4160520"/>
            <a:ext cx="548640" cy="548640"/>
          </a:xfrm>
          <a:prstGeom prst="ellipse">
            <a:avLst/>
          </a:prstGeom>
          <a:solidFill>
            <a:srgbClr val="007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L0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80160" y="4160520"/>
            <a:ext cx="12801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1F2937"/>
                </a:solidFill>
                <a:latin typeface="Microsoft YaHei"/>
              </a:rPr>
              <a:t>元认知提示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80160" y="4434840"/>
            <a:ext cx="12801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Microsoft YaHei"/>
              </a:rPr>
              <a:t>掌握度≥0.85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" y="4846320"/>
            <a:ext cx="1828800" cy="18288"/>
          </a:xfrm>
          <a:prstGeom prst="rect">
            <a:avLst/>
          </a:prstGeom>
          <a:solidFill>
            <a:srgbClr val="007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" y="4937760"/>
            <a:ext cx="1828800" cy="1371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100" b="0">
                <a:solidFill>
                  <a:srgbClr val="1F2937"/>
                </a:solidFill>
                <a:latin typeface="Microsoft YaHei"/>
              </a:rPr>
              <a:t>「你想想看，第一步应该是什么？」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788920" y="4023360"/>
            <a:ext cx="2194560" cy="2377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2971800" y="4160520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L1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11880" y="4160520"/>
            <a:ext cx="12801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1F2937"/>
                </a:solidFill>
                <a:latin typeface="Microsoft YaHei"/>
              </a:rPr>
              <a:t>关键概念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11880" y="4434840"/>
            <a:ext cx="12801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Microsoft YaHei"/>
              </a:rPr>
              <a:t>0.7≤掌握度&lt;0.85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971800" y="4846320"/>
            <a:ext cx="1828800" cy="1828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971800" y="4937760"/>
            <a:ext cx="1828800" cy="1371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100" b="0">
                <a:solidFill>
                  <a:srgbClr val="1F2937"/>
                </a:solidFill>
                <a:latin typeface="Microsoft YaHei"/>
              </a:rPr>
              <a:t>「提示：这与【梯度下降】相关」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120640" y="4023360"/>
            <a:ext cx="2194560" cy="2377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5303520" y="41605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L2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43600" y="4160520"/>
            <a:ext cx="12801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1F2937"/>
                </a:solidFill>
                <a:latin typeface="Microsoft YaHei"/>
              </a:rPr>
              <a:t>类比示例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943600" y="4434840"/>
            <a:ext cx="12801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Microsoft YaHei"/>
              </a:rPr>
              <a:t>0.5≤掌握度&lt;0.7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303520" y="4846320"/>
            <a:ext cx="1828800" cy="1828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303520" y="4937760"/>
            <a:ext cx="1828800" cy="1371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100" b="0">
                <a:solidFill>
                  <a:srgbClr val="1F2937"/>
                </a:solidFill>
                <a:latin typeface="Microsoft YaHei"/>
              </a:rPr>
              <a:t>「想象你在下山...」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452359" y="4023360"/>
            <a:ext cx="2194560" cy="2377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7635239" y="4160520"/>
            <a:ext cx="548640" cy="54864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L3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75319" y="4160520"/>
            <a:ext cx="12801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1F2937"/>
                </a:solidFill>
                <a:latin typeface="Microsoft YaHei"/>
              </a:rPr>
              <a:t>分步分解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75319" y="4434840"/>
            <a:ext cx="12801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Microsoft YaHei"/>
              </a:rPr>
              <a:t>0.3≤掌握度&lt;0.5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635239" y="4846320"/>
            <a:ext cx="1828800" cy="18288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635239" y="4937760"/>
            <a:ext cx="1828800" cy="1371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100" b="0">
                <a:solidFill>
                  <a:srgbClr val="1F2937"/>
                </a:solidFill>
                <a:latin typeface="Microsoft YaHei"/>
              </a:rPr>
              <a:t>「第 1 步...第 2 步...」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9784080" y="4023360"/>
            <a:ext cx="2194560" cy="2377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9966960" y="4160520"/>
            <a:ext cx="548640" cy="54864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L4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607040" y="4160520"/>
            <a:ext cx="12801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1F2937"/>
                </a:solidFill>
                <a:latin typeface="Microsoft YaHei"/>
              </a:rPr>
              <a:t>完整示范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607040" y="4434840"/>
            <a:ext cx="12801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Microsoft YaHei"/>
              </a:rPr>
              <a:t>掌握度&lt;0.3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966960" y="4846320"/>
            <a:ext cx="1828800" cy="1828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966960" y="4937760"/>
            <a:ext cx="1828800" cy="1371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100" b="0">
                <a:solidFill>
                  <a:srgbClr val="1F2937"/>
                </a:solidFill>
                <a:latin typeface="Microsoft YaHei"/>
              </a:rPr>
              <a:t>「演示完整解法」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57200" y="6492240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1">
                <a:solidFill>
                  <a:srgbClr val="1F2937"/>
                </a:solidFill>
                <a:latin typeface="Microsoft YaHei"/>
              </a:rPr>
              <a:t>🎓 核心原则：连续 2 轮错→升级 | 连续 2 轮对→降级 | 主动求提示→中等 | 疲劳→降级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07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200" b="1">
                <a:solidFill>
                  <a:srgbClr val="1F2937"/>
                </a:solidFill>
                <a:latin typeface="Microsoft YaHei"/>
              </a:rPr>
              <a:t>03 系统架构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0">
                <a:solidFill>
                  <a:srgbClr val="6B7280"/>
                </a:solidFill>
                <a:latin typeface="Microsoft YaHei"/>
              </a:rPr>
              <a:t>5 智能体协同 + 底层支撑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25880"/>
            <a:ext cx="548640" cy="36576"/>
          </a:xfrm>
          <a:prstGeom prst="rect">
            <a:avLst/>
          </a:prstGeom>
          <a:solidFill>
            <a:srgbClr val="007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200400" y="1828800"/>
            <a:ext cx="5760720" cy="731520"/>
          </a:xfrm>
          <a:prstGeom prst="roundRect">
            <a:avLst/>
          </a:prstGeom>
          <a:solidFill>
            <a:srgbClr val="007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0" y="1920240"/>
            <a:ext cx="576072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🎯 Orchestrator Agent (主控调度)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3017520"/>
            <a:ext cx="2194560" cy="914400"/>
          </a:xfrm>
          <a:prstGeom prst="roundRect">
            <a:avLst/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3108960"/>
            <a:ext cx="21945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000" b="0">
                <a:solidFill>
                  <a:srgbClr val="0075FF"/>
                </a:solidFill>
                <a:latin typeface="Microsoft YaHei"/>
              </a:rPr>
              <a:t>🎯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3474720"/>
            <a:ext cx="21945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400" b="1">
                <a:solidFill>
                  <a:srgbClr val="1F2937"/>
                </a:solidFill>
                <a:latin typeface="Microsoft YaHei"/>
              </a:rPr>
              <a:t>Diagnostic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43200" y="3017520"/>
            <a:ext cx="2194560" cy="914400"/>
          </a:xfrm>
          <a:prstGeom prst="roundRect">
            <a:avLst/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43200" y="3108960"/>
            <a:ext cx="21945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000" b="0">
                <a:solidFill>
                  <a:srgbClr val="10B981"/>
                </a:solidFill>
                <a:latin typeface="Microsoft YaHei"/>
              </a:rPr>
              <a:t>🗺️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0" y="3474720"/>
            <a:ext cx="21945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400" b="1">
                <a:solidFill>
                  <a:srgbClr val="1F2937"/>
                </a:solidFill>
                <a:latin typeface="Microsoft YaHei"/>
              </a:rPr>
              <a:t>Planning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120640" y="3017520"/>
            <a:ext cx="2194560" cy="914400"/>
          </a:xfrm>
          <a:prstGeom prst="roundRect">
            <a:avLst/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0640" y="3108960"/>
            <a:ext cx="21945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000" b="0">
                <a:solidFill>
                  <a:srgbClr val="F59E0B"/>
                </a:solidFill>
                <a:latin typeface="Microsoft YaHei"/>
              </a:rPr>
              <a:t>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0" y="3474720"/>
            <a:ext cx="21945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400" b="1">
                <a:solidFill>
                  <a:srgbClr val="1F2937"/>
                </a:solidFill>
                <a:latin typeface="Microsoft YaHei"/>
              </a:rPr>
              <a:t>Teaching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98080" y="3017520"/>
            <a:ext cx="2194560" cy="914400"/>
          </a:xfrm>
          <a:prstGeom prst="roundRect">
            <a:avLst/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0" y="3108960"/>
            <a:ext cx="21945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000" b="0">
                <a:solidFill>
                  <a:srgbClr val="8B5CF6"/>
                </a:solidFill>
                <a:latin typeface="Microsoft YaHei"/>
              </a:rPr>
              <a:t>💭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0" y="3474720"/>
            <a:ext cx="21945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400" b="1">
                <a:solidFill>
                  <a:srgbClr val="1F2937"/>
                </a:solidFill>
                <a:latin typeface="Microsoft YaHei"/>
              </a:rPr>
              <a:t>Reflective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875520" y="3017520"/>
            <a:ext cx="2194560" cy="914400"/>
          </a:xfrm>
          <a:prstGeom prst="roundRect">
            <a:avLst/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875520" y="3108960"/>
            <a:ext cx="21945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000" b="0">
                <a:solidFill>
                  <a:srgbClr val="EF4444"/>
                </a:solidFill>
                <a:latin typeface="Microsoft YaHei"/>
              </a:rPr>
              <a:t>❤️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75520" y="3474720"/>
            <a:ext cx="21945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400" b="1">
                <a:solidFill>
                  <a:srgbClr val="1F2937"/>
                </a:solidFill>
                <a:latin typeface="Microsoft YaHei"/>
              </a:rPr>
              <a:t>Emotional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429768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400" b="1">
                <a:solidFill>
                  <a:srgbClr val="6B7280"/>
                </a:solidFill>
                <a:latin typeface="Microsoft YaHei"/>
              </a:rPr>
              <a:t>底层支撑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4663440"/>
            <a:ext cx="3566160" cy="7315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4754880"/>
            <a:ext cx="35661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400" b="1">
                <a:solidFill>
                  <a:srgbClr val="0075FF"/>
                </a:solidFill>
                <a:latin typeface="Microsoft YaHei"/>
              </a:rPr>
              <a:t>🧠 Cognitive State Network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5074920"/>
            <a:ext cx="35661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100" b="0">
                <a:solidFill>
                  <a:srgbClr val="6B7280"/>
                </a:solidFill>
                <a:latin typeface="Microsoft YaHei"/>
              </a:rPr>
              <a:t>DKT × BKT × IRT 融合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297680" y="4663440"/>
            <a:ext cx="3566160" cy="7315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297680" y="4754880"/>
            <a:ext cx="35661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400" b="1">
                <a:solidFill>
                  <a:srgbClr val="10B981"/>
                </a:solidFill>
                <a:latin typeface="Microsoft YaHei"/>
              </a:rPr>
              <a:t>💾 Long-term Memory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97680" y="5074920"/>
            <a:ext cx="35661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100" b="0">
                <a:solidFill>
                  <a:srgbClr val="6B7280"/>
                </a:solidFill>
                <a:latin typeface="Microsoft YaHei"/>
              </a:rPr>
              <a:t>Episodic + Semantic + Reflective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138160" y="4663440"/>
            <a:ext cx="3566160" cy="7315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38160" y="4754880"/>
            <a:ext cx="35661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400" b="1">
                <a:solidFill>
                  <a:srgbClr val="F59E0B"/>
                </a:solidFill>
                <a:latin typeface="Microsoft YaHei"/>
              </a:rPr>
              <a:t>🕸️ Knowledge Graph + RAG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38160" y="5074920"/>
            <a:ext cx="35661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100" b="0">
                <a:solidFill>
                  <a:srgbClr val="6B7280"/>
                </a:solidFill>
                <a:latin typeface="Microsoft YaHei"/>
              </a:rPr>
              <a:t>21 节点 + 向量检索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5760720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400" b="1">
                <a:solidFill>
                  <a:srgbClr val="1F2937"/>
                </a:solidFill>
                <a:latin typeface="Microsoft YaHei"/>
              </a:rPr>
              <a:t>完整闭环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6126480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300" b="1">
                <a:solidFill>
                  <a:srgbClr val="0075FF"/>
                </a:solidFill>
                <a:latin typeface="Microsoft YaHei"/>
              </a:rPr>
              <a:t>学生输入 → 情感检测 → 学情更新 → 路径规划 → 教学回应 → 反思记录 → (回到学生)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07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200" b="1">
                <a:solidFill>
                  <a:srgbClr val="1F2937"/>
                </a:solidFill>
                <a:latin typeface="Microsoft YaHei"/>
              </a:rPr>
              <a:t>知识图谱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0">
                <a:solidFill>
                  <a:srgbClr val="6B7280"/>
                </a:solidFill>
                <a:latin typeface="Microsoft YaHei"/>
              </a:rPr>
              <a:t>面向 AI 专业导论的精细化图谱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25880"/>
            <a:ext cx="548640" cy="36576"/>
          </a:xfrm>
          <a:prstGeom prst="rect">
            <a:avLst/>
          </a:prstGeom>
          <a:solidFill>
            <a:srgbClr val="007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828800"/>
            <a:ext cx="3657600" cy="2011680"/>
          </a:xfrm>
          <a:prstGeom prst="roundRect">
            <a:avLst/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828800"/>
            <a:ext cx="3657600" cy="91440"/>
          </a:xfrm>
          <a:prstGeom prst="rect">
            <a:avLst/>
          </a:prstGeom>
          <a:solidFill>
            <a:srgbClr val="007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011680"/>
            <a:ext cx="32004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0075FF"/>
                </a:solidFill>
                <a:latin typeface="Microsoft YaHei"/>
              </a:rPr>
              <a:t>数学基础 (4)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468880"/>
            <a:ext cx="3291840" cy="18288"/>
          </a:xfrm>
          <a:prstGeom prst="rect">
            <a:avLst/>
          </a:prstGeom>
          <a:solidFill>
            <a:srgbClr val="007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606040"/>
            <a:ext cx="3291840" cy="10972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1F2937"/>
                </a:solidFill>
                <a:latin typeface="Microsoft YaHei"/>
              </a:rPr>
              <a:t>线性代数 · 微积分 · 概率论 · 最优化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0" y="1828800"/>
            <a:ext cx="3657600" cy="2011680"/>
          </a:xfrm>
          <a:prstGeom prst="roundRect">
            <a:avLst/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97680" y="1828800"/>
            <a:ext cx="3657600" cy="914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80560" y="2011680"/>
            <a:ext cx="32004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10B981"/>
                </a:solidFill>
                <a:latin typeface="Microsoft YaHei"/>
              </a:rPr>
              <a:t>机器学习 (5)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80560" y="2468880"/>
            <a:ext cx="3291840" cy="1828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80560" y="2606040"/>
            <a:ext cx="3291840" cy="10972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1F2937"/>
                </a:solidFill>
                <a:latin typeface="Microsoft YaHei"/>
              </a:rPr>
              <a:t>基本概念 · 线性回归 · 逻辑回归 · 决策树 · SVM/集成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1828800"/>
            <a:ext cx="3657600" cy="2011680"/>
          </a:xfrm>
          <a:prstGeom prst="roundRect">
            <a:avLst/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38160" y="1828800"/>
            <a:ext cx="3657600" cy="914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1040" y="2011680"/>
            <a:ext cx="32004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F59E0B"/>
                </a:solidFill>
                <a:latin typeface="Microsoft YaHei"/>
              </a:rPr>
              <a:t>深度学习 (5)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321040" y="2468880"/>
            <a:ext cx="3291840" cy="1828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21040" y="2606040"/>
            <a:ext cx="3291840" cy="10972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1F2937"/>
                </a:solidFill>
                <a:latin typeface="Microsoft YaHei"/>
              </a:rPr>
              <a:t>感知机 · 反向传播 · CNN · RNN · Transformer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023360"/>
            <a:ext cx="3657600" cy="2011680"/>
          </a:xfrm>
          <a:prstGeom prst="roundRect">
            <a:avLst/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4023360"/>
            <a:ext cx="3657600" cy="9144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4206240"/>
            <a:ext cx="32004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8B5CF6"/>
                </a:solidFill>
                <a:latin typeface="Microsoft YaHei"/>
              </a:rPr>
              <a:t>应用 (3)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4663440"/>
            <a:ext cx="3291840" cy="1828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4800600"/>
            <a:ext cx="3291840" cy="10972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1F2937"/>
                </a:solidFill>
                <a:latin typeface="Microsoft YaHei"/>
              </a:rPr>
              <a:t>NLP基础 · 预训练模型 · 计算机视觉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297680" y="4023360"/>
            <a:ext cx="3657600" cy="2011680"/>
          </a:xfrm>
          <a:prstGeom prst="roundRect">
            <a:avLst/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297680" y="4023360"/>
            <a:ext cx="3657600" cy="9144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80560" y="4206240"/>
            <a:ext cx="32004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EF4444"/>
                </a:solidFill>
                <a:latin typeface="Microsoft YaHei"/>
              </a:rPr>
              <a:t>前沿 (2)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480560" y="4663440"/>
            <a:ext cx="3291840" cy="18288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480560" y="4800600"/>
            <a:ext cx="3291840" cy="10972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1F2937"/>
                </a:solidFill>
                <a:latin typeface="Microsoft YaHei"/>
              </a:rPr>
              <a:t>强化学习 · LLM Agent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138160" y="4023360"/>
            <a:ext cx="3657600" cy="2011680"/>
          </a:xfrm>
          <a:prstGeom prst="roundRect">
            <a:avLst/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138160" y="4023360"/>
            <a:ext cx="3657600" cy="9144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321040" y="4206240"/>
            <a:ext cx="32004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EC4899"/>
                </a:solidFill>
                <a:latin typeface="Microsoft YaHei"/>
              </a:rPr>
              <a:t>伦理 (1)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321040" y="4663440"/>
            <a:ext cx="3291840" cy="18288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321040" y="4800600"/>
            <a:ext cx="3291840" cy="10972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1F2937"/>
                </a:solidFill>
                <a:latin typeface="Microsoft YaHei"/>
              </a:rPr>
              <a:t>AI伦理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6217920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300" b="1">
                <a:solidFill>
                  <a:srgbClr val="1F2937"/>
                </a:solidFill>
                <a:latin typeface="Microsoft YaHei"/>
              </a:rPr>
              <a:t>关系类型：prerequisite（先决）+ related（相关）+ confused_with（易混淆）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" y="6583680"/>
            <a:ext cx="1124712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0">
                <a:solidFill>
                  <a:srgbClr val="6B7280"/>
                </a:solidFill>
                <a:latin typeface="Microsoft YaHei"/>
              </a:rPr>
              <a:t>每节点包含：难度、估计学习时长、Bloom 层级、关键概念、典型错误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07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200" b="1">
                <a:solidFill>
                  <a:srgbClr val="1F2937"/>
                </a:solidFill>
                <a:latin typeface="Microsoft YaHei"/>
              </a:rPr>
              <a:t>05 产品演示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0">
                <a:solidFill>
                  <a:srgbClr val="6B7280"/>
                </a:solidFill>
                <a:latin typeface="Microsoft YaHei"/>
              </a:rPr>
              <a:t>Streamlit Web Demo 实时交互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25880"/>
            <a:ext cx="548640" cy="36576"/>
          </a:xfrm>
          <a:prstGeom prst="rect">
            <a:avLst/>
          </a:prstGeom>
          <a:solidFill>
            <a:srgbClr val="007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737360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600" b="0">
                <a:solidFill>
                  <a:srgbClr val="1F2937"/>
                </a:solidFill>
                <a:latin typeface="Microsoft YaHei"/>
              </a:rPr>
              <a:t>完整 Web Demo 包含 6 个页面：对话 / 学情诊断 / 路径规划 / 学习报告 / 智能体架构 / 关于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377440"/>
            <a:ext cx="2697480" cy="3200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377440"/>
            <a:ext cx="2697480" cy="91440"/>
          </a:xfrm>
          <a:prstGeom prst="rect">
            <a:avLst/>
          </a:prstGeom>
          <a:solidFill>
            <a:srgbClr val="007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2651760"/>
            <a:ext cx="269748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4200" b="0">
                <a:solidFill>
                  <a:srgbClr val="0075FF"/>
                </a:solidFill>
                <a:latin typeface="Microsoft YaHei"/>
              </a:rPr>
              <a:t>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474720"/>
            <a:ext cx="269748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1F2937"/>
                </a:solidFill>
                <a:latin typeface="Microsoft YaHei"/>
              </a:rPr>
              <a:t>主页对话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05840" y="3931920"/>
            <a:ext cx="1600200" cy="18288"/>
          </a:xfrm>
          <a:prstGeom prst="rect">
            <a:avLst/>
          </a:prstGeom>
          <a:solidFill>
            <a:srgbClr val="007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4023360"/>
            <a:ext cx="2697480" cy="1371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300" b="0">
                <a:solidFill>
                  <a:srgbClr val="6B7280"/>
                </a:solidFill>
                <a:latin typeface="Microsoft YaHei"/>
              </a:rPr>
              <a:t>苏格拉底式对话
5 级脚手架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37560" y="2377440"/>
            <a:ext cx="2697480" cy="3200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37560" y="2377440"/>
            <a:ext cx="2697480" cy="914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37560" y="2651760"/>
            <a:ext cx="269748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4200" b="0">
                <a:solidFill>
                  <a:srgbClr val="10B981"/>
                </a:solidFill>
                <a:latin typeface="Microsoft YaHei"/>
              </a:rPr>
              <a:t>📊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7560" y="3474720"/>
            <a:ext cx="269748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1F2937"/>
                </a:solidFill>
                <a:latin typeface="Microsoft YaHei"/>
              </a:rPr>
              <a:t>学情诊断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886200" y="3931920"/>
            <a:ext cx="1600200" cy="1828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337560" y="4023360"/>
            <a:ext cx="2697480" cy="1371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300" b="0">
                <a:solidFill>
                  <a:srgbClr val="6B7280"/>
                </a:solidFill>
                <a:latin typeface="Microsoft YaHei"/>
              </a:rPr>
              <a:t>CSN 三模型
置信度可视化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2377440"/>
            <a:ext cx="2697480" cy="3200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17920" y="2377440"/>
            <a:ext cx="2697480" cy="914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17920" y="2651760"/>
            <a:ext cx="269748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4200" b="0">
                <a:solidFill>
                  <a:srgbClr val="F59E0B"/>
                </a:solidFill>
                <a:latin typeface="Microsoft YaHei"/>
              </a:rPr>
              <a:t>🗺️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17920" y="3474720"/>
            <a:ext cx="269748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1F2937"/>
                </a:solidFill>
                <a:latin typeface="Microsoft YaHei"/>
              </a:rPr>
              <a:t>路径规划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766560" y="3931920"/>
            <a:ext cx="1600200" cy="1828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17920" y="4023360"/>
            <a:ext cx="2697480" cy="1371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300" b="0">
                <a:solidFill>
                  <a:srgbClr val="6B7280"/>
                </a:solidFill>
                <a:latin typeface="Microsoft YaHei"/>
              </a:rPr>
              <a:t>Bandit 推荐
知识图谱可视化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98280" y="2377440"/>
            <a:ext cx="2697480" cy="3200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098280" y="2377440"/>
            <a:ext cx="2697480" cy="9144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98280" y="2651760"/>
            <a:ext cx="269748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4200" b="0">
                <a:solidFill>
                  <a:srgbClr val="8B5CF6"/>
                </a:solidFill>
                <a:latin typeface="Microsoft YaHei"/>
              </a:rPr>
              <a:t>📝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98280" y="3474720"/>
            <a:ext cx="269748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1F2937"/>
                </a:solidFill>
                <a:latin typeface="Microsoft YaHei"/>
              </a:rPr>
              <a:t>学习报告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646920" y="3931920"/>
            <a:ext cx="1600200" cy="1828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098280" y="4023360"/>
            <a:ext cx="2697480" cy="1371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300" b="0">
                <a:solidFill>
                  <a:srgbClr val="6B7280"/>
                </a:solidFill>
                <a:latin typeface="Microsoft YaHei"/>
              </a:rPr>
              <a:t>情感 + 反思
元认知培养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5760720"/>
            <a:ext cx="112471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400" b="1">
                <a:solidFill>
                  <a:srgbClr val="0075FF"/>
                </a:solidFill>
                <a:latin typeface="Microsoft YaHei"/>
              </a:rPr>
              <a:t>运行命令：streamlit run demo/app.py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6263640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0">
                <a:solidFill>
                  <a:srgbClr val="6B7280"/>
                </a:solidFill>
                <a:latin typeface="Microsoft YaHei"/>
              </a:rPr>
              <a:t>✓ 5 智能体协同 ✓ 21 节点知识图谱 ✓ 25+ 题库 ✓ 端到端闭环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07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200" b="1">
                <a:solidFill>
                  <a:srgbClr val="1F2937"/>
                </a:solidFill>
                <a:latin typeface="Microsoft YaHei"/>
              </a:rPr>
              <a:t>演示流程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0">
                <a:solidFill>
                  <a:srgbClr val="6B7280"/>
                </a:solidFill>
                <a:latin typeface="Microsoft YaHei"/>
              </a:rPr>
              <a:t>从启动会话到反思总结的完整闭环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25880"/>
            <a:ext cx="548640" cy="36576"/>
          </a:xfrm>
          <a:prstGeom prst="rect">
            <a:avLst/>
          </a:prstGeom>
          <a:solidFill>
            <a:srgbClr val="007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828800"/>
            <a:ext cx="3657600" cy="2011680"/>
          </a:xfrm>
          <a:prstGeom prst="roundRect">
            <a:avLst/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965960"/>
            <a:ext cx="1828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0075FF"/>
                </a:solidFill>
                <a:latin typeface="Microsoft YaHei"/>
              </a:rPr>
              <a:t>Step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25603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1">
                <a:solidFill>
                  <a:srgbClr val="1F2937"/>
                </a:solidFill>
                <a:latin typeface="Microsoft YaHei"/>
              </a:rPr>
              <a:t>启动会话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468880"/>
            <a:ext cx="3291840" cy="18288"/>
          </a:xfrm>
          <a:prstGeom prst="rect">
            <a:avLst/>
          </a:prstGeom>
          <a:solidFill>
            <a:srgbClr val="007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606040"/>
            <a:ext cx="329184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1F2937"/>
                </a:solidFill>
                <a:latin typeface="Microsoft YaHei"/>
              </a:rPr>
              <a:t>输入：选择学习目标：llm_agent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200400"/>
            <a:ext cx="329184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>
                <a:solidFill>
                  <a:srgbClr val="0075FF"/>
                </a:solidFill>
                <a:latin typeface="Microsoft YaHei"/>
              </a:rPr>
              <a:t>输出：系统生成 5 步学习路径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1828800"/>
            <a:ext cx="3657600" cy="2011680"/>
          </a:xfrm>
          <a:prstGeom prst="roundRect">
            <a:avLst/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80560" y="1965960"/>
            <a:ext cx="1828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10B981"/>
                </a:solidFill>
                <a:latin typeface="Microsoft YaHei"/>
              </a:rPr>
              <a:t>Step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12080" y="1965960"/>
            <a:ext cx="25603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1">
                <a:solidFill>
                  <a:srgbClr val="1F2937"/>
                </a:solidFill>
                <a:latin typeface="Microsoft YaHei"/>
              </a:rPr>
              <a:t>学生提问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80560" y="2468880"/>
            <a:ext cx="3291840" cy="1828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80560" y="2606040"/>
            <a:ext cx="329184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1F2937"/>
                </a:solidFill>
                <a:latin typeface="Microsoft YaHei"/>
              </a:rPr>
              <a:t>输入：“我不懂 ReAct”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3200400"/>
            <a:ext cx="329184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>
                <a:solidFill>
                  <a:srgbClr val="10B981"/>
                </a:solidFill>
                <a:latin typeface="Microsoft YaHei"/>
              </a:rPr>
              <a:t>输出：情感检测：engagement 上升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38160" y="1828800"/>
            <a:ext cx="3657600" cy="2011680"/>
          </a:xfrm>
          <a:prstGeom prst="roundRect">
            <a:avLst/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21040" y="1965960"/>
            <a:ext cx="1828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F59E0B"/>
                </a:solidFill>
                <a:latin typeface="Microsoft YaHei"/>
              </a:rPr>
              <a:t>Step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52560" y="1965960"/>
            <a:ext cx="25603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1">
                <a:solidFill>
                  <a:srgbClr val="1F2937"/>
                </a:solidFill>
                <a:latin typeface="Microsoft YaHei"/>
              </a:rPr>
              <a:t>智能回应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321040" y="2468880"/>
            <a:ext cx="3291840" cy="1828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21040" y="2606040"/>
            <a:ext cx="329184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1F2937"/>
                </a:solidFill>
                <a:latin typeface="Microsoft YaHei"/>
              </a:rPr>
              <a:t>输入：苏格拉底式反诘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40" y="3200400"/>
            <a:ext cx="329184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>
                <a:solidFill>
                  <a:srgbClr val="F59E0B"/>
                </a:solidFill>
                <a:latin typeface="Microsoft YaHei"/>
              </a:rPr>
              <a:t>输出：脚手架 L4 → 完整示范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4023360"/>
            <a:ext cx="3657600" cy="2011680"/>
          </a:xfrm>
          <a:prstGeom prst="roundRect">
            <a:avLst/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4160520"/>
            <a:ext cx="1828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8B5CF6"/>
                </a:solidFill>
                <a:latin typeface="Microsoft YaHei"/>
              </a:rPr>
              <a:t>Step 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71600" y="4160520"/>
            <a:ext cx="25603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1">
                <a:solidFill>
                  <a:srgbClr val="1F2937"/>
                </a:solidFill>
                <a:latin typeface="Microsoft YaHei"/>
              </a:rPr>
              <a:t>答题诊断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" y="4663440"/>
            <a:ext cx="3291840" cy="1828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4800600"/>
            <a:ext cx="329184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1F2937"/>
                </a:solidFill>
                <a:latin typeface="Microsoft YaHei"/>
              </a:rPr>
              <a:t>输入：答对率 80%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5394960"/>
            <a:ext cx="329184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>
                <a:solidFill>
                  <a:srgbClr val="8B5CF6"/>
                </a:solidFill>
                <a:latin typeface="Microsoft YaHei"/>
              </a:rPr>
              <a:t>输出：CSN 提升掌握度到 0.7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297680" y="4023360"/>
            <a:ext cx="3657600" cy="2011680"/>
          </a:xfrm>
          <a:prstGeom prst="roundRect">
            <a:avLst/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480560" y="4160520"/>
            <a:ext cx="1828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EF4444"/>
                </a:solidFill>
                <a:latin typeface="Microsoft YaHei"/>
              </a:rPr>
              <a:t>Step 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12080" y="4160520"/>
            <a:ext cx="25603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1">
                <a:solidFill>
                  <a:srgbClr val="1F2937"/>
                </a:solidFill>
                <a:latin typeface="Microsoft YaHei"/>
              </a:rPr>
              <a:t>动态规划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480560" y="4663440"/>
            <a:ext cx="3291840" cy="18288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80560" y="4800600"/>
            <a:ext cx="329184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1F2937"/>
                </a:solidFill>
                <a:latin typeface="Microsoft YaHei"/>
              </a:rPr>
              <a:t>输入：Bandit 推荐下一步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80560" y="5394960"/>
            <a:ext cx="329184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>
                <a:solidFill>
                  <a:srgbClr val="EF4444"/>
                </a:solidFill>
                <a:latin typeface="Microsoft YaHei"/>
              </a:rPr>
              <a:t>输出：ZPD 区间内 + 路径优化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138160" y="4023360"/>
            <a:ext cx="3657600" cy="2011680"/>
          </a:xfrm>
          <a:prstGeom prst="roundRect">
            <a:avLst/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321040" y="4160520"/>
            <a:ext cx="1828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0075FF"/>
                </a:solidFill>
                <a:latin typeface="Microsoft YaHei"/>
              </a:rPr>
              <a:t>Step 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052560" y="4160520"/>
            <a:ext cx="25603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1">
                <a:solidFill>
                  <a:srgbClr val="1F2937"/>
                </a:solidFill>
                <a:latin typeface="Microsoft YaHei"/>
              </a:rPr>
              <a:t>反思总结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321040" y="4663440"/>
            <a:ext cx="3291840" cy="18288"/>
          </a:xfrm>
          <a:prstGeom prst="rect">
            <a:avLst/>
          </a:prstGeom>
          <a:solidFill>
            <a:srgbClr val="007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321040" y="4800600"/>
            <a:ext cx="329184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1F2937"/>
                </a:solidFill>
                <a:latin typeface="Microsoft YaHei"/>
              </a:rPr>
              <a:t>输入：生成学习报告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21040" y="5394960"/>
            <a:ext cx="329184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>
                <a:solidFill>
                  <a:srgbClr val="0075FF"/>
                </a:solidFill>
                <a:latin typeface="Microsoft YaHei"/>
              </a:rPr>
              <a:t>输出：强项 / 弱项 / 下一步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07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200" b="1">
                <a:solidFill>
                  <a:srgbClr val="1F2937"/>
                </a:solidFill>
                <a:latin typeface="Microsoft YaHei"/>
              </a:rPr>
              <a:t>评测对比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0">
                <a:solidFill>
                  <a:srgbClr val="6B7280"/>
                </a:solidFill>
                <a:latin typeface="Microsoft YaHei"/>
              </a:rPr>
              <a:t>智径 vs 传统 LLM 套壳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25880"/>
            <a:ext cx="548640" cy="36576"/>
          </a:xfrm>
          <a:prstGeom prst="rect">
            <a:avLst/>
          </a:prstGeom>
          <a:solidFill>
            <a:srgbClr val="007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828800"/>
            <a:ext cx="2286000" cy="548640"/>
          </a:xfrm>
          <a:prstGeom prst="roundRect">
            <a:avLst/>
          </a:prstGeom>
          <a:solidFill>
            <a:srgbClr val="007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828800"/>
            <a:ext cx="22860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维度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0" y="1828800"/>
            <a:ext cx="4114800" cy="548640"/>
          </a:xfrm>
          <a:prstGeom prst="roundRect">
            <a:avLst/>
          </a:prstGeom>
          <a:solidFill>
            <a:srgbClr val="007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0" y="1828800"/>
            <a:ext cx="41148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传统 LLM 套壳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0" y="1828800"/>
            <a:ext cx="5029200" cy="548640"/>
          </a:xfrm>
          <a:prstGeom prst="roundRect">
            <a:avLst/>
          </a:prstGeom>
          <a:solidFill>
            <a:srgbClr val="007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0" y="1828800"/>
            <a:ext cx="50292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智径 AdaptivePath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468880"/>
            <a:ext cx="2286000" cy="411480"/>
          </a:xfrm>
          <a:prstGeom prst="roundRect">
            <a:avLst/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743200" y="2468880"/>
            <a:ext cx="4114800" cy="4114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858000" y="2468880"/>
            <a:ext cx="5029200" cy="4114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468880"/>
            <a:ext cx="228600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300" b="1">
                <a:solidFill>
                  <a:srgbClr val="1F2937"/>
                </a:solidFill>
                <a:latin typeface="Microsoft YaHei"/>
              </a:rPr>
              <a:t>学情诊断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0" y="2468880"/>
            <a:ext cx="411480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0">
                <a:solidFill>
                  <a:srgbClr val="EF4444"/>
                </a:solidFill>
                <a:latin typeface="Microsoft YaHei"/>
              </a:rPr>
              <a:t>❌ 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2468880"/>
            <a:ext cx="502920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1">
                <a:solidFill>
                  <a:srgbClr val="10B981"/>
                </a:solidFill>
                <a:latin typeface="Microsoft YaHei"/>
              </a:rPr>
              <a:t>✅ CSN 三模型融合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2926080"/>
            <a:ext cx="2286000" cy="411480"/>
          </a:xfrm>
          <a:prstGeom prst="roundRect">
            <a:avLst/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743200" y="2926080"/>
            <a:ext cx="4114800" cy="4114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858000" y="2926080"/>
            <a:ext cx="5029200" cy="4114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2926080"/>
            <a:ext cx="228600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300" b="1">
                <a:solidFill>
                  <a:srgbClr val="1F2937"/>
                </a:solidFill>
                <a:latin typeface="Microsoft YaHei"/>
              </a:rPr>
              <a:t>路径规划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0" y="2926080"/>
            <a:ext cx="411480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0">
                <a:solidFill>
                  <a:srgbClr val="EF4444"/>
                </a:solidFill>
                <a:latin typeface="Microsoft YaHei"/>
              </a:rPr>
              <a:t>❌ 静态或无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0" y="2926080"/>
            <a:ext cx="502920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1">
                <a:solidFill>
                  <a:srgbClr val="10B981"/>
                </a:solidFill>
                <a:latin typeface="Microsoft YaHei"/>
              </a:rPr>
              <a:t>✅ Bandit 在线学习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3383280"/>
            <a:ext cx="2286000" cy="411480"/>
          </a:xfrm>
          <a:prstGeom prst="roundRect">
            <a:avLst/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2743200" y="3383280"/>
            <a:ext cx="4114800" cy="4114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858000" y="3383280"/>
            <a:ext cx="5029200" cy="4114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3383280"/>
            <a:ext cx="228600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300" b="1">
                <a:solidFill>
                  <a:srgbClr val="1F2937"/>
                </a:solidFill>
                <a:latin typeface="Microsoft YaHei"/>
              </a:rPr>
              <a:t>教学方式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43200" y="3383280"/>
            <a:ext cx="411480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0">
                <a:solidFill>
                  <a:srgbClr val="EF4444"/>
                </a:solidFill>
                <a:latin typeface="Microsoft YaHei"/>
              </a:rPr>
              <a:t>❌ 灌输式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0" y="3383280"/>
            <a:ext cx="502920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1">
                <a:solidFill>
                  <a:srgbClr val="10B981"/>
                </a:solidFill>
                <a:latin typeface="Microsoft YaHei"/>
              </a:rPr>
              <a:t>✅ 苏格拉底式反诘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3840480"/>
            <a:ext cx="2286000" cy="411480"/>
          </a:xfrm>
          <a:prstGeom prst="roundRect">
            <a:avLst/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2743200" y="3840480"/>
            <a:ext cx="4114800" cy="4114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58000" y="3840480"/>
            <a:ext cx="5029200" cy="4114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" y="3840480"/>
            <a:ext cx="228600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300" b="1">
                <a:solidFill>
                  <a:srgbClr val="1F2937"/>
                </a:solidFill>
                <a:latin typeface="Microsoft YaHei"/>
              </a:rPr>
              <a:t>情感适配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743200" y="3840480"/>
            <a:ext cx="411480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0">
                <a:solidFill>
                  <a:srgbClr val="EF4444"/>
                </a:solidFill>
                <a:latin typeface="Microsoft YaHei"/>
              </a:rPr>
              <a:t>❌ 忽视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0" y="3840480"/>
            <a:ext cx="502920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1">
                <a:solidFill>
                  <a:srgbClr val="10B981"/>
                </a:solidFill>
                <a:latin typeface="Microsoft YaHei"/>
              </a:rPr>
              <a:t>✅ 5 维实时感知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4297680"/>
            <a:ext cx="2286000" cy="411480"/>
          </a:xfrm>
          <a:prstGeom prst="roundRect">
            <a:avLst/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2743200" y="4297680"/>
            <a:ext cx="4114800" cy="4114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6858000" y="4297680"/>
            <a:ext cx="5029200" cy="4114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7200" y="4297680"/>
            <a:ext cx="228600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300" b="1">
                <a:solidFill>
                  <a:srgbClr val="1F2937"/>
                </a:solidFill>
                <a:latin typeface="Microsoft YaHei"/>
              </a:rPr>
              <a:t>可解释性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743200" y="4297680"/>
            <a:ext cx="411480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0">
                <a:solidFill>
                  <a:srgbClr val="EF4444"/>
                </a:solidFill>
                <a:latin typeface="Microsoft YaHei"/>
              </a:rPr>
              <a:t>❌ 黑盒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58000" y="4297680"/>
            <a:ext cx="502920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1">
                <a:solidFill>
                  <a:srgbClr val="10B981"/>
                </a:solidFill>
                <a:latin typeface="Microsoft YaHei"/>
              </a:rPr>
              <a:t>✅ 每次推荐有理由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57200" y="4754880"/>
            <a:ext cx="2286000" cy="411480"/>
          </a:xfrm>
          <a:prstGeom prst="roundRect">
            <a:avLst/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2743200" y="4754880"/>
            <a:ext cx="4114800" cy="4114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6858000" y="4754880"/>
            <a:ext cx="5029200" cy="4114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57200" y="4754880"/>
            <a:ext cx="228600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300" b="1">
                <a:solidFill>
                  <a:srgbClr val="1F2937"/>
                </a:solidFill>
                <a:latin typeface="Microsoft YaHei"/>
              </a:rPr>
              <a:t>长期记忆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743200" y="4754880"/>
            <a:ext cx="411480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0">
                <a:solidFill>
                  <a:srgbClr val="EF4444"/>
                </a:solidFill>
                <a:latin typeface="Microsoft YaHei"/>
              </a:rPr>
              <a:t>❌ 短期对话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58000" y="4754880"/>
            <a:ext cx="502920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1">
                <a:solidFill>
                  <a:srgbClr val="10B981"/>
                </a:solidFill>
                <a:latin typeface="Microsoft YaHei"/>
              </a:rPr>
              <a:t>✅ 3 层记忆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57200" y="5212080"/>
            <a:ext cx="2286000" cy="411480"/>
          </a:xfrm>
          <a:prstGeom prst="roundRect">
            <a:avLst/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2743200" y="5212080"/>
            <a:ext cx="4114800" cy="4114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6858000" y="5212080"/>
            <a:ext cx="5029200" cy="4114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57200" y="5212080"/>
            <a:ext cx="228600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300" b="1">
                <a:solidFill>
                  <a:srgbClr val="1F2937"/>
                </a:solidFill>
                <a:latin typeface="Microsoft YaHei"/>
              </a:rPr>
              <a:t>评测指标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743200" y="5212080"/>
            <a:ext cx="411480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0">
                <a:solidFill>
                  <a:srgbClr val="EF4444"/>
                </a:solidFill>
                <a:latin typeface="Microsoft YaHei"/>
              </a:rPr>
              <a:t>❌ 无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858000" y="5212080"/>
            <a:ext cx="502920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1">
                <a:solidFill>
                  <a:srgbClr val="10B981"/>
                </a:solidFill>
                <a:latin typeface="Microsoft YaHei"/>
              </a:rPr>
              <a:t>✅ 多维报告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57200" y="5669280"/>
            <a:ext cx="2286000" cy="411480"/>
          </a:xfrm>
          <a:prstGeom prst="roundRect">
            <a:avLst/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2743200" y="5669280"/>
            <a:ext cx="4114800" cy="4114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858000" y="5669280"/>
            <a:ext cx="5029200" cy="4114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57200" y="5669280"/>
            <a:ext cx="228600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300" b="1">
                <a:solidFill>
                  <a:srgbClr val="1F2937"/>
                </a:solidFill>
                <a:latin typeface="Microsoft YaHei"/>
              </a:rPr>
              <a:t>教学理论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743200" y="5669280"/>
            <a:ext cx="411480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0">
                <a:solidFill>
                  <a:srgbClr val="EF4444"/>
                </a:solidFill>
                <a:latin typeface="Microsoft YaHei"/>
              </a:rPr>
              <a:t>❌ 无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58000" y="5669280"/>
            <a:ext cx="502920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1">
                <a:solidFill>
                  <a:srgbClr val="10B981"/>
                </a:solidFill>
                <a:latin typeface="Microsoft YaHei"/>
              </a:rPr>
              <a:t>✅ ZPD + Bloom + Scaffolding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400" b="1">
                <a:solidFill>
                  <a:srgbClr val="0075FF"/>
                </a:solidFill>
                <a:latin typeface="Microsoft YaHei"/>
              </a:rPr>
              <a:t>💎 智径 AdaptivePath 在 8 个维度全面超越传统方案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07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200" b="1">
                <a:solidFill>
                  <a:srgbClr val="1F2937"/>
                </a:solidFill>
                <a:latin typeface="Microsoft YaHei"/>
              </a:rPr>
              <a:t>06 市场与商业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0">
                <a:solidFill>
                  <a:srgbClr val="6B7280"/>
                </a:solidFill>
                <a:latin typeface="Microsoft YaHei"/>
              </a:rPr>
              <a:t>TAM/SAM/SOM + 多元商业模式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25880"/>
            <a:ext cx="548640" cy="36576"/>
          </a:xfrm>
          <a:prstGeom prst="rect">
            <a:avLst/>
          </a:prstGeom>
          <a:solidFill>
            <a:srgbClr val="007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737360"/>
            <a:ext cx="54864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000" b="1">
                <a:solidFill>
                  <a:srgbClr val="1F2937"/>
                </a:solidFill>
                <a:latin typeface="Microsoft YaHei"/>
              </a:rPr>
              <a:t>🎯 市场空间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286000"/>
            <a:ext cx="5029200" cy="1005840"/>
          </a:xfrm>
          <a:prstGeom prst="roundRect">
            <a:avLst/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377440"/>
            <a:ext cx="137160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200" b="1">
                <a:solidFill>
                  <a:srgbClr val="0075FF"/>
                </a:solidFill>
                <a:latin typeface="Microsoft YaHei"/>
              </a:rPr>
              <a:t>TAM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2377440"/>
            <a:ext cx="329184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400" b="1">
                <a:solidFill>
                  <a:srgbClr val="1F2937"/>
                </a:solidFill>
                <a:latin typeface="Microsoft YaHei"/>
              </a:rPr>
              <a:t>360 亿元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2834640"/>
            <a:ext cx="329184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Microsoft YaHei"/>
              </a:rPr>
              <a:t>中国 K12 + 高校 STEM 学生 × 300 元/年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474720"/>
            <a:ext cx="5029200" cy="1005840"/>
          </a:xfrm>
          <a:prstGeom prst="roundRect">
            <a:avLst/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566160"/>
            <a:ext cx="137160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200" b="1">
                <a:solidFill>
                  <a:srgbClr val="10B981"/>
                </a:solidFill>
                <a:latin typeface="Microsoft YaHei"/>
              </a:rPr>
              <a:t>SAM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11680" y="3566160"/>
            <a:ext cx="329184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400" b="1">
                <a:solidFill>
                  <a:srgbClr val="1F2937"/>
                </a:solidFill>
                <a:latin typeface="Microsoft YaHei"/>
              </a:rPr>
              <a:t>108 亿元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11680" y="4023360"/>
            <a:ext cx="329184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Microsoft YaHei"/>
              </a:rPr>
              <a:t>STEM 30% 渗透率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4663440"/>
            <a:ext cx="5029200" cy="1005840"/>
          </a:xfrm>
          <a:prstGeom prst="roundRect">
            <a:avLst/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4754880"/>
            <a:ext cx="137160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200" b="1">
                <a:solidFill>
                  <a:srgbClr val="F59E0B"/>
                </a:solidFill>
                <a:latin typeface="Microsoft YaHei"/>
              </a:rPr>
              <a:t>SOM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11680" y="4754880"/>
            <a:ext cx="329184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400" b="1">
                <a:solidFill>
                  <a:srgbClr val="1F2937"/>
                </a:solidFill>
                <a:latin typeface="Microsoft YaHei"/>
              </a:rPr>
              <a:t>5400 万元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11680" y="5212080"/>
            <a:ext cx="329184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Microsoft YaHei"/>
              </a:rPr>
              <a:t>前 3 年 0.5% 份额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0" y="1737360"/>
            <a:ext cx="54864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000" b="1">
                <a:solidFill>
                  <a:srgbClr val="1F2937"/>
                </a:solidFill>
                <a:latin typeface="Microsoft YaHei"/>
              </a:rPr>
              <a:t>💰 商业模式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943600" y="2286000"/>
            <a:ext cx="5760720" cy="1005840"/>
          </a:xfrm>
          <a:prstGeom prst="roundRect">
            <a:avLst/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26480" y="2377440"/>
            <a:ext cx="228600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000" b="1">
                <a:solidFill>
                  <a:srgbClr val="0075FF"/>
                </a:solidFill>
                <a:latin typeface="Microsoft YaHei"/>
              </a:rPr>
              <a:t>B2B 机构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2377440"/>
            <a:ext cx="310896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800" b="1">
                <a:solidFill>
                  <a:srgbClr val="0075FF"/>
                </a:solidFill>
                <a:latin typeface="Microsoft YaHei"/>
              </a:rPr>
              <a:t>60%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03920" y="2834640"/>
            <a:ext cx="31089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Microsoft YaHei"/>
              </a:rPr>
              <a:t>5-20万/校/年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943600" y="3474720"/>
            <a:ext cx="5760720" cy="1005840"/>
          </a:xfrm>
          <a:prstGeom prst="roundRect">
            <a:avLst/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126480" y="3566160"/>
            <a:ext cx="228600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000" b="1">
                <a:solidFill>
                  <a:srgbClr val="10B981"/>
                </a:solidFill>
                <a:latin typeface="Microsoft YaHei"/>
              </a:rPr>
              <a:t>B2C 订阅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3566160"/>
            <a:ext cx="310896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800" b="1">
                <a:solidFill>
                  <a:srgbClr val="10B981"/>
                </a:solidFill>
                <a:latin typeface="Microsoft YaHei"/>
              </a:rPr>
              <a:t>30%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03920" y="4023360"/>
            <a:ext cx="31089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Microsoft YaHei"/>
              </a:rPr>
              <a:t>29元/月, 299元/年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43600" y="4663440"/>
            <a:ext cx="5760720" cy="1005840"/>
          </a:xfrm>
          <a:prstGeom prst="roundRect">
            <a:avLst/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126480" y="4754880"/>
            <a:ext cx="228600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000" b="1">
                <a:solidFill>
                  <a:srgbClr val="F59E0B"/>
                </a:solidFill>
                <a:latin typeface="Microsoft YaHei"/>
              </a:rPr>
              <a:t>B2B2C 预装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4754880"/>
            <a:ext cx="310896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800" b="1">
                <a:solidFill>
                  <a:srgbClr val="F59E0B"/>
                </a:solidFill>
                <a:latin typeface="Microsoft YaHei"/>
              </a:rPr>
              <a:t>10%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03920" y="5212080"/>
            <a:ext cx="31089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Microsoft YaHei"/>
              </a:rPr>
              <a:t>硬件厂商分成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5943600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400" b="1">
                <a:solidFill>
                  <a:srgbClr val="0075FF"/>
                </a:solidFill>
                <a:latin typeface="Microsoft YaHei"/>
              </a:rPr>
              <a:t>📈 财务预测：2026 收入 50万 / 2027 收入 500万 / 2028 收入 3000万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07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200" b="1">
                <a:solidFill>
                  <a:srgbClr val="1F2937"/>
                </a:solidFill>
                <a:latin typeface="Microsoft YaHei"/>
              </a:rPr>
              <a:t>07 团队与未来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0">
                <a:solidFill>
                  <a:srgbClr val="6B7280"/>
                </a:solidFill>
                <a:latin typeface="Microsoft YaHei"/>
              </a:rPr>
              <a:t>高校背景 + 多学科交叉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25880"/>
            <a:ext cx="548640" cy="36576"/>
          </a:xfrm>
          <a:prstGeom prst="rect">
            <a:avLst/>
          </a:prstGeom>
          <a:solidFill>
            <a:srgbClr val="007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5760" y="1828800"/>
            <a:ext cx="2194560" cy="2286000"/>
          </a:xfrm>
          <a:prstGeom prst="roundRect">
            <a:avLst/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2011680"/>
            <a:ext cx="219456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4200" b="0">
                <a:solidFill>
                  <a:srgbClr val="0075FF"/>
                </a:solidFill>
                <a:latin typeface="Microsoft YaHei"/>
              </a:rPr>
              <a:t>👨‍💼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743200"/>
            <a:ext cx="21945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400" b="1">
                <a:solidFill>
                  <a:srgbClr val="0075FF"/>
                </a:solidFill>
                <a:latin typeface="Microsoft YaHei"/>
              </a:rPr>
              <a:t>主负责人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200400"/>
            <a:ext cx="1463040" cy="18288"/>
          </a:xfrm>
          <a:prstGeom prst="rect">
            <a:avLst/>
          </a:prstGeom>
          <a:solidFill>
            <a:srgbClr val="007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3291840"/>
            <a:ext cx="201168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100" b="0">
                <a:solidFill>
                  <a:srgbClr val="1F2937"/>
                </a:solidFill>
                <a:latin typeface="Microsoft YaHei"/>
              </a:rPr>
              <a:t>整体战略与商务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657600"/>
            <a:ext cx="201168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Microsoft YaHei"/>
              </a:rPr>
              <a:t>高校 / 商科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697479" y="1828800"/>
            <a:ext cx="2194560" cy="2286000"/>
          </a:xfrm>
          <a:prstGeom prst="roundRect">
            <a:avLst/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97479" y="2011680"/>
            <a:ext cx="219456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4200" b="0">
                <a:solidFill>
                  <a:srgbClr val="10B981"/>
                </a:solidFill>
                <a:latin typeface="Microsoft YaHei"/>
              </a:rPr>
              <a:t>👨‍💻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97479" y="2743200"/>
            <a:ext cx="21945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400" b="1">
                <a:solidFill>
                  <a:srgbClr val="10B981"/>
                </a:solidFill>
                <a:latin typeface="Microsoft YaHei"/>
              </a:rPr>
              <a:t>技术负责人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063239" y="3200400"/>
            <a:ext cx="1463040" cy="1828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88919" y="3291840"/>
            <a:ext cx="201168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100" b="0">
                <a:solidFill>
                  <a:srgbClr val="1F2937"/>
                </a:solidFill>
                <a:latin typeface="Microsoft YaHei"/>
              </a:rPr>
              <a:t>核心架构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88919" y="3657600"/>
            <a:ext cx="201168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Microsoft YaHei"/>
              </a:rPr>
              <a:t>高校 / CS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0" y="1828800"/>
            <a:ext cx="2194560" cy="2286000"/>
          </a:xfrm>
          <a:prstGeom prst="roundRect">
            <a:avLst/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0" y="2011680"/>
            <a:ext cx="219456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4200" b="0">
                <a:solidFill>
                  <a:srgbClr val="F59E0B"/>
                </a:solidFill>
                <a:latin typeface="Microsoft YaHei"/>
              </a:rPr>
              <a:t>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0" y="2743200"/>
            <a:ext cx="21945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400" b="1">
                <a:solidFill>
                  <a:srgbClr val="F59E0B"/>
                </a:solidFill>
                <a:latin typeface="Microsoft YaHei"/>
              </a:rPr>
              <a:t>AI 算法负责人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394960" y="3200400"/>
            <a:ext cx="1463040" cy="1828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0" y="3291840"/>
            <a:ext cx="201168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100" b="0">
                <a:solidFill>
                  <a:srgbClr val="1F2937"/>
                </a:solidFill>
                <a:latin typeface="Microsoft YaHei"/>
              </a:rPr>
              <a:t>认知诊断 + RL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20640" y="3657600"/>
            <a:ext cx="201168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Microsoft YaHei"/>
              </a:rPr>
              <a:t>高校 / AI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60919" y="1828800"/>
            <a:ext cx="2194560" cy="2286000"/>
          </a:xfrm>
          <a:prstGeom prst="roundRect">
            <a:avLst/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60919" y="2011680"/>
            <a:ext cx="219456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4200" b="0">
                <a:solidFill>
                  <a:srgbClr val="8B5CF6"/>
                </a:solidFill>
                <a:latin typeface="Microsoft YaHei"/>
              </a:rPr>
              <a:t>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60919" y="2743200"/>
            <a:ext cx="21945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400" b="1">
                <a:solidFill>
                  <a:srgbClr val="8B5CF6"/>
                </a:solidFill>
                <a:latin typeface="Microsoft YaHei"/>
              </a:rPr>
              <a:t>教育学顾问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26679" y="3200400"/>
            <a:ext cx="1463040" cy="1828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52359" y="3291840"/>
            <a:ext cx="201168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100" b="0">
                <a:solidFill>
                  <a:srgbClr val="1F2937"/>
                </a:solidFill>
                <a:latin typeface="Microsoft YaHei"/>
              </a:rPr>
              <a:t>认知科学理论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52359" y="3657600"/>
            <a:ext cx="201168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Microsoft YaHei"/>
              </a:rPr>
              <a:t>高校 / 教育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692640" y="1828800"/>
            <a:ext cx="2194560" cy="2286000"/>
          </a:xfrm>
          <a:prstGeom prst="roundRect">
            <a:avLst/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692640" y="2011680"/>
            <a:ext cx="219456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4200" b="0">
                <a:solidFill>
                  <a:srgbClr val="EF4444"/>
                </a:solidFill>
                <a:latin typeface="Microsoft YaHei"/>
              </a:rPr>
              <a:t>🎨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92640" y="2743200"/>
            <a:ext cx="21945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400" b="1">
                <a:solidFill>
                  <a:srgbClr val="EF4444"/>
                </a:solidFill>
                <a:latin typeface="Microsoft YaHei"/>
              </a:rPr>
              <a:t>产品负责人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058400" y="3200400"/>
            <a:ext cx="1463040" cy="18288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784080" y="3291840"/>
            <a:ext cx="201168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100" b="0">
                <a:solidFill>
                  <a:srgbClr val="1F2937"/>
                </a:solidFill>
                <a:latin typeface="Microsoft YaHei"/>
              </a:rPr>
              <a:t>用户体验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784080" y="3657600"/>
            <a:ext cx="201168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Microsoft YaHei"/>
              </a:rPr>
              <a:t>高校 / 设计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4389120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1F2937"/>
                </a:solidFill>
                <a:latin typeface="Microsoft YaHei"/>
              </a:rPr>
              <a:t>🗺️ 发展路线图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57200" y="4937760"/>
            <a:ext cx="3657600" cy="14630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7200" y="5029200"/>
            <a:ext cx="36576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600" b="1">
                <a:solidFill>
                  <a:srgbClr val="0075FF"/>
                </a:solidFill>
                <a:latin typeface="Microsoft YaHei"/>
              </a:rPr>
              <a:t>短期 3M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554480" y="5440680"/>
            <a:ext cx="1463040" cy="18288"/>
          </a:xfrm>
          <a:prstGeom prst="rect">
            <a:avLst/>
          </a:prstGeom>
          <a:solidFill>
            <a:srgbClr val="007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0080" y="5577840"/>
            <a:ext cx="329184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0">
                <a:solidFill>
                  <a:srgbClr val="1F2937"/>
                </a:solidFill>
                <a:latin typeface="Microsoft YaHei"/>
              </a:rPr>
              <a:t>✓ 扩展学科：数学/物理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" y="5943600"/>
            <a:ext cx="329184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0">
                <a:solidFill>
                  <a:srgbClr val="1F2937"/>
                </a:solidFill>
                <a:latin typeface="Microsoft YaHei"/>
              </a:rPr>
              <a:t>✓ 与 1-2 所中学合作试用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297680" y="4937760"/>
            <a:ext cx="3657600" cy="14630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297680" y="5029200"/>
            <a:ext cx="36576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600" b="1">
                <a:solidFill>
                  <a:srgbClr val="10B981"/>
                </a:solidFill>
                <a:latin typeface="Microsoft YaHei"/>
              </a:rPr>
              <a:t>中期 6M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394960" y="5440680"/>
            <a:ext cx="1463040" cy="1828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480560" y="5577840"/>
            <a:ext cx="329184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0">
                <a:solidFill>
                  <a:srgbClr val="1F2937"/>
                </a:solidFill>
                <a:latin typeface="Microsoft YaHei"/>
              </a:rPr>
              <a:t>✓ B2B 商务拓展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480560" y="5943600"/>
            <a:ext cx="329184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0">
                <a:solidFill>
                  <a:srgbClr val="1F2937"/>
                </a:solidFill>
                <a:latin typeface="Microsoft YaHei"/>
              </a:rPr>
              <a:t>✓ 多模态支持（图像/语音）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138160" y="4937760"/>
            <a:ext cx="3657600" cy="14630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138160" y="5029200"/>
            <a:ext cx="36576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600" b="1">
                <a:solidFill>
                  <a:srgbClr val="F59E0B"/>
                </a:solidFill>
                <a:latin typeface="Microsoft YaHei"/>
              </a:rPr>
              <a:t>长期 12M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235440" y="5440680"/>
            <a:ext cx="1463040" cy="1828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321040" y="5577840"/>
            <a:ext cx="329184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0">
                <a:solidFill>
                  <a:srgbClr val="1F2937"/>
                </a:solidFill>
                <a:latin typeface="Microsoft YaHei"/>
              </a:rPr>
              <a:t>✓ 海外拓展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321040" y="5943600"/>
            <a:ext cx="329184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0">
                <a:solidFill>
                  <a:srgbClr val="1F2937"/>
                </a:solidFill>
                <a:latin typeface="Microsoft YaHei"/>
              </a:rPr>
              <a:t>✓ 教师端 Dashboard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7200" b="1">
                <a:solidFill>
                  <a:srgbClr val="FFFFFF"/>
                </a:solidFill>
                <a:latin typeface="Microsoft YaHei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28800"/>
            <a:ext cx="112471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000" b="0">
                <a:solidFill>
                  <a:srgbClr val="0075FF"/>
                </a:solidFill>
                <a:latin typeface="Microsoft YaHei"/>
              </a:rPr>
              <a:t>感谢聆听 · 期待与您深入交流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926080"/>
            <a:ext cx="182880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4200" b="1">
                <a:solidFill>
                  <a:srgbClr val="0075FF"/>
                </a:solidFill>
                <a:latin typeface="Microsoft YaHei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657600"/>
            <a:ext cx="1828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icrosoft YaHei"/>
              </a:rPr>
              <a:t>智能体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7440" y="2926080"/>
            <a:ext cx="182880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4200" b="1">
                <a:solidFill>
                  <a:srgbClr val="0075FF"/>
                </a:solidFill>
                <a:latin typeface="Microsoft YaHei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7440" y="3657600"/>
            <a:ext cx="1828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icrosoft YaHei"/>
              </a:rPr>
              <a:t>认知模型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0" y="2926080"/>
            <a:ext cx="182880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4200" b="1">
                <a:solidFill>
                  <a:srgbClr val="0075FF"/>
                </a:solidFill>
                <a:latin typeface="Microsoft YaHei"/>
              </a:rPr>
              <a:t>21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3657600"/>
            <a:ext cx="1828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icrosoft YaHei"/>
              </a:rPr>
              <a:t>知识节点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2926080"/>
            <a:ext cx="182880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4200" b="1">
                <a:solidFill>
                  <a:srgbClr val="0075FF"/>
                </a:solidFill>
                <a:latin typeface="Microsoft YaHei"/>
              </a:rPr>
              <a:t>25+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3657600"/>
            <a:ext cx="1828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icrosoft YaHei"/>
              </a:rPr>
              <a:t>题库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0" y="2926080"/>
            <a:ext cx="182880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4200" b="1">
                <a:solidFill>
                  <a:srgbClr val="0075FF"/>
                </a:solidFill>
                <a:latin typeface="Microsoft YaHei"/>
              </a:rPr>
              <a:t>100+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8160" y="3657600"/>
            <a:ext cx="1828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icrosoft YaHei"/>
              </a:rPr>
              <a:t>代码文件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0" y="2926080"/>
            <a:ext cx="182880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4200" b="1">
                <a:solidFill>
                  <a:srgbClr val="0075FF"/>
                </a:solidFill>
                <a:latin typeface="Microsoft YaHei"/>
              </a:rPr>
              <a:t>2000+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0" y="3657600"/>
            <a:ext cx="1828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icrosoft YaHei"/>
              </a:rPr>
              <a:t>代码行数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572000"/>
            <a:ext cx="1033272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Microsoft YaHei"/>
              </a:rPr>
              <a:t>智径 AdaptivePath：让每个学生都拥有一个『既懂知识又懂学生』的 AI 导师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760720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0">
                <a:solidFill>
                  <a:srgbClr val="6B7280"/>
                </a:solidFill>
                <a:latin typeface="Microsoft YaHei"/>
              </a:rPr>
              <a:t>GitHub: github.com/logicore-code/zhijing-adaptive-path    ·    GitCode: gitcode.com/jiangzeyu-2026/zhijing-adaptive-path    ·    团队: 崇理团队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