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37160" cy="13716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27432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20" y="274320"/>
            <a:ext cx="137160" cy="13716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7432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274320"/>
            <a:ext cx="137160" cy="13716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075FF"/>
                </a:solidFill>
                <a:latin typeface="Microsoft YaHei"/>
              </a:rPr>
              <a:t>🎓 智径 AdaptivePath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Microsoft YaHei"/>
              </a:rPr>
              <a:t>智径 AdaptivePath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0075FF"/>
                </a:solidFill>
                <a:latin typeface="Microsoft YaHei"/>
              </a:rPr>
              <a:t>基于多智能体协同与认知诊断融合的自适应学习伴学智能体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icrosoft YaHei"/>
              </a:rPr>
              <a:t>Multi-Agent Adaptive Learning Companion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赛道：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02920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科大讯飞 AI 开发者大赛 · 自适应学习路径决策与伴学智能体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39496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作品类型：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394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AI Agent + 教育认知科学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团队：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7607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[待填]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日期：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612648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916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项目背景与洞察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916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为什么需要重新思考 AI 教育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核心创新点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CSN 三模型融合 + Bandit + Socratic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71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系统架构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7180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5 智能体协同架构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59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11879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技术实现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611879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代码 + 公式 + 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51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产品演示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251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Web Demo 实操展示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8920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市场与商业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8920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TAM/SAM/SOM + 商业模式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399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532119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团队与未来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532119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团队 + 路线图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教育大模型浪潮中的真实痛点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5000亿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中国 K12 在线教育市场规模（元）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现有 AI 教育产品仅做 LLM 套壳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真正拥有学生认知模型的 AI 教育产品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教育认知科学可借鉴的方法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icrosoft YaHei"/>
              </a:rPr>
              <a:t>现有 AI 教育产品的四大通病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无学情诊断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把学生当答题机器，不了解掌握度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路径千篇一律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知识图谱推荐，不考虑学生差异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灌输式教学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直接给答案，违背 ZPD 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忽视情感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挫败时继续推难题，体验差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02 核心创新点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五大维度全面超越 LLM 套壳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19456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CSN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075FF"/>
                </a:solidFill>
                <a:latin typeface="Microsoft YaHei"/>
              </a:rPr>
              <a:t>三模型融合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931920"/>
            <a:ext cx="1097280" cy="27432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DKT × BKT × IRT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样本量自适应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075FF"/>
                </a:solidFill>
                <a:latin typeface="Microsoft YaHei"/>
              </a:rPr>
              <a:t>5 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79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7479" y="1828800"/>
            <a:ext cx="219456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8999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Microsoft YaHei"/>
              </a:rPr>
              <a:t>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19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Bandit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19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在线路径优化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19" y="3931920"/>
            <a:ext cx="1097280" cy="27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59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Contextual Bandit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59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冷启动友好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59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Microsoft YaHei"/>
              </a:rPr>
              <a:t>32 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0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1828800"/>
            <a:ext cx="219456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Microsoft YaHei"/>
              </a:rPr>
              <a:t>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Socratic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Microsoft YaHei"/>
              </a:rPr>
              <a:t>苏格拉底式教学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3931920"/>
            <a:ext cx="10972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5 级脚手架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Bloom 适配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F59E0B"/>
                </a:solidFill>
                <a:latin typeface="Microsoft YaHei"/>
              </a:rPr>
              <a:t>5 阶段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19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60919" y="1828800"/>
            <a:ext cx="219456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39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EF4444"/>
                </a:solidFill>
                <a:latin typeface="Microsoft YaHei"/>
              </a:rPr>
              <a:t>❤️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59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Affective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59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EF4444"/>
                </a:solidFill>
                <a:latin typeface="Microsoft YaHei"/>
              </a:rPr>
              <a:t>情感计算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59" y="3931920"/>
            <a:ext cx="1097280" cy="274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799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5 维实时感知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799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影响教学节奏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799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EF4444"/>
                </a:solidFill>
                <a:latin typeface="Microsoft YaHei"/>
              </a:rPr>
              <a:t>5 维度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92640" y="1828800"/>
            <a:ext cx="219456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24160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XAI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075FF"/>
                </a:solidFill>
                <a:latin typeface="Microsoft YaHei"/>
              </a:rPr>
              <a:t>完整可解释性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41280" y="3931920"/>
            <a:ext cx="1097280" cy="27432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5520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每次推荐有理由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可追溯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075FF"/>
                </a:solidFill>
                <a:latin typeface="Microsoft YaHe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💎 不是堆叠名词，是工程级深度融合：每行代码都对应一篇经典论文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创新 1：CSN 三模型融合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BKT × DKT × IRT 自适应加权融合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02920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075FF"/>
                </a:solidFill>
                <a:latin typeface="Microsoft YaHei"/>
              </a:rPr>
              <a:t>BKT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Bayesian Knowledge Tracing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146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4 状态 HMM，冷启动友好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0075FF"/>
                </a:solidFill>
                <a:latin typeface="Microsoft YaHei"/>
              </a:rPr>
              <a:t>P(L_t | obs)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502920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3832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461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Microsoft YaHei"/>
              </a:rPr>
              <a:t>DKT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66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Deep Knowledge Tracing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LSTM，长程记忆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Microsoft YaHei"/>
              </a:rPr>
              <a:t>h_t = LSTM(x_t, h_{t-1})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389120"/>
            <a:ext cx="502920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66344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526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YaHei"/>
              </a:rPr>
              <a:t>IRT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46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Item Response Theory 2PL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749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全局能力估计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66344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F59E0B"/>
                </a:solidFill>
                <a:latin typeface="Microsoft YaHei"/>
              </a:rPr>
              <a:t>P(θ) = σ(a(θ-b))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182880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自适应加权融合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468880"/>
            <a:ext cx="5943600" cy="11887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260604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Consolas"/>
              </a:rPr>
              <a:t>mastery = w_dkt·dkt_p + w_bkt·bkt_p + w_irt·irt_p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97180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onsolas"/>
              </a:rPr>
              <a:t>confidence = 1 / (1 + 10·Var([dkt_p, bkt_p, irt_p]))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337560"/>
            <a:ext cx="5577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(置信度基于三模型方差，样本量自适应)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84048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样本量自适应权重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429768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4434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075FF"/>
                </a:solidFill>
                <a:latin typeface="Microsoft YaHei"/>
              </a:rPr>
              <a:t>n&lt;5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8463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Consolas"/>
              </a:rPr>
              <a:t>(0.2, 0.5, 0.3)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5212080"/>
            <a:ext cx="109728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534924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BKT 主导
冷启动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29768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4434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Microsoft YaHei"/>
              </a:rPr>
              <a:t>5≤n&lt;20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48463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Consolas"/>
              </a:rPr>
              <a:t>(0.4, 0.3, 0.3)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39" y="5212080"/>
            <a:ext cx="109728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79" y="534924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三模型
等权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66960" y="429768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4434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Microsoft YaHei"/>
              </a:rPr>
              <a:t>n≥20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48463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Consolas"/>
              </a:rPr>
              <a:t>(0.5, 0.2, 0.3)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20" y="5212080"/>
            <a:ext cx="109728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0" y="534924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DKT 主导
长程依赖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✨ 业内首次：将三种认知诊断模型在同一系统内自适应融合 + 置信度估计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创新 2：Contextual Bandit 路径优化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在线学习最优推荐策略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🎯 核心问题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</a:rPr>
              <a:t>如何为每个学生在线学习最优的下一步推荐？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075FF"/>
                </a:solidFill>
                <a:latin typeface="Microsoft YaHei"/>
              </a:rPr>
              <a:t>💡 方案：Contextual Bandit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Context (上下文)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474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x ∈ R³²: 学生状态向量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Action (动作)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8404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a ∈ A: 候选知识点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Reward (奖励)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06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r: 学习收益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LinUCB (Linear Upper Confidence Bound)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75FF"/>
                </a:solidFill>
                <a:latin typeface="Microsoft YaHei"/>
              </a:rPr>
              <a:t>LinUCB 选择规则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1500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Consolas"/>
              </a:rPr>
              <a:t>a* = argmax_a [ θ_a^T x + α √(x^T A_a⁻¹ x)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利用 + 探索 + 理论保证（O(√T) regret bound）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8288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🌱 ZPD 融合（Vygotsky）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468880"/>
            <a:ext cx="5486400" cy="13716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60604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Microsoft YaHei"/>
              </a:rPr>
              <a:t>ZPD 分数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97180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onsolas"/>
              </a:rPr>
              <a:t>zpd(θ, d) = exp(-((d - θ - 0.4)² / 0.2))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4290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差距 0.4：略感挑战但可完成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💪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6634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冷启动友好 - 无需离线训练数据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983479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在线学习 - 每步可更新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03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理论保证 - regret bound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623559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ZPD 过滤 - 避免过易/过难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94360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可解释 - 每个推荐都有 UCB 分数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创新 3：苏格拉底式支架教学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永远不直接给答案，但会渐进逼近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5 阶段对话状态机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DIAGNOSE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了解认知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8892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反诘深入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37760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HINT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关键提示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69479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59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CONFIRM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检验理解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601200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REFLECT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元反思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5 级动态脚手架（基于 Bloom 认知分类）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0080" y="4160520"/>
            <a:ext cx="548640" cy="54864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元认知提示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掌握度≥0.85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46320"/>
            <a:ext cx="182880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「你想想看，第一步应该是什么？」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8892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71800" y="41605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关键概念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1188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0.7≤掌握度&lt;0.85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846320"/>
            <a:ext cx="182880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80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「提示：这与【梯度下降】相关」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03520" y="41605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类比示例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0.5≤掌握度&lt;0.7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4846320"/>
            <a:ext cx="182880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「想象你在下山...」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52359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35239" y="416052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19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分步分解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19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0.3≤掌握度&lt;0.5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39" y="4846320"/>
            <a:ext cx="182880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5239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「第 1 步...第 2 步...」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66960" y="41605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完整示范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掌握度&lt;0.3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4846320"/>
            <a:ext cx="182880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6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「演示完整解法」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92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🎓 核心原则：连续 2 轮错→升级 | 连续 2 轮对→降级 | 主动求提示→中等 | 疲劳→降级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03 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5 智能体协同 + 底层支撑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0" y="1828800"/>
            <a:ext cx="5760720" cy="73152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5760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🎯 Orchestrator Agent (主控调度)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0075FF"/>
                </a:solidFill>
                <a:latin typeface="Microsoft YaHei"/>
              </a:rP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Diagnostic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10B981"/>
                </a:solidFill>
                <a:latin typeface="Microsoft YaHei"/>
              </a:rPr>
              <a:t>🗺️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Planning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F59E0B"/>
                </a:solidFill>
                <a:latin typeface="Microsoft YaHei"/>
              </a:rPr>
              <a:t>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Teaching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Microsoft YaHei"/>
              </a:rPr>
              <a:t>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Reflective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EF4444"/>
                </a:solidFill>
                <a:latin typeface="Microsoft YaHei"/>
              </a:rPr>
              <a:t>❤️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Emotional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97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Microsoft YaHei"/>
              </a:rPr>
              <a:t>底层支撑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63440"/>
            <a:ext cx="356616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🧠 Cognitive State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DKT × BKT × IRT 融合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663440"/>
            <a:ext cx="356616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7548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Microsoft YaHei"/>
              </a:rPr>
              <a:t>💾 Long-term 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0749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Episodic + Semantic + Reflective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663440"/>
            <a:ext cx="356616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7548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Microsoft YaHei"/>
              </a:rPr>
              <a:t>🕸️ Knowledge Graph + RAG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0749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21 节点 + 向量检索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完整闭环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075FF"/>
                </a:solidFill>
                <a:latin typeface="Microsoft YaHei"/>
              </a:rPr>
              <a:t>学生输入 → 情感检测 → 学情更新 → 路径规划 → 教学回应 → 反思记录 → (回到学生)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知识图谱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面向 AI 专业导论的精细化图谱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075FF"/>
                </a:solidFill>
                <a:latin typeface="Microsoft YaHei"/>
              </a:rPr>
              <a:t>数学基础 (4)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32918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线性代数 · 微积分 · 概率论 · 最优化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576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Microsoft YaHei"/>
              </a:rPr>
              <a:t>机器学习 (5)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468880"/>
            <a:ext cx="32918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基本概念 · 线性回归 · 逻辑回归 · 决策树 · SVM/集成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65760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YaHei"/>
              </a:rPr>
              <a:t>深度学习 (5)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468880"/>
            <a:ext cx="32918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6060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感知机 · 反向传播 · CNN · RNN · Transformer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365760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062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8B5CF6"/>
                </a:solidFill>
                <a:latin typeface="Microsoft YaHei"/>
              </a:rPr>
              <a:t>应用 (3)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663440"/>
            <a:ext cx="329184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0060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NLP基础 · 预训练模型 · 计算机视觉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4023360"/>
            <a:ext cx="365760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2062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F4444"/>
                </a:solidFill>
                <a:latin typeface="Microsoft YaHei"/>
              </a:rPr>
              <a:t>前沿 (2)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663440"/>
            <a:ext cx="329184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480060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强化学习 · LLM Agent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4023360"/>
            <a:ext cx="3657600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42062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C4899"/>
                </a:solidFill>
                <a:latin typeface="Microsoft YaHei"/>
              </a:rPr>
              <a:t>伦理 (1)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4663440"/>
            <a:ext cx="3291840" cy="18288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80060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AI伦理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关系类型：prerequisite（先决）+ related（相关）+ confused_with（易混淆）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8368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每节点包含：难度、估计学习时长、Bloom 层级、关键概念、典型错误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05 产品演示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Streamlit Web Demo 实时交互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Microsoft YaHei"/>
              </a:rPr>
              <a:t>完整 Web Demo 包含 6 个页面：对话 / 学情诊断 / 路径规划 / 学习报告 / 智能体架构 / 关于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269748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主页对话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931920"/>
            <a:ext cx="160020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苏格拉底式对话
5 级脚手架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377440"/>
            <a:ext cx="26974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Microsoft YaHe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学情诊断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86200" y="3931920"/>
            <a:ext cx="160020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CSN 三模型
置信度可视化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377440"/>
            <a:ext cx="26974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Microsoft YaHei"/>
              </a:rPr>
              <a:t>🗺️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路径规划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931920"/>
            <a:ext cx="160020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Bandit 推荐
知识图谱可视化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280" y="2377440"/>
            <a:ext cx="269748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8B5CF6"/>
                </a:solidFill>
                <a:latin typeface="Microsoft YaHei"/>
              </a:rPr>
              <a:t>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学习报告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46920" y="3931920"/>
            <a:ext cx="160020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情感 + 反思
元认知培养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运行命令：streamlit run demo/app.py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✓ 5 智能体协同 ✓ 21 节点知识图谱 ✓ 25+ 题库 ✓ 端到端闭环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演示流程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从启动会话到反思总结的完整闭环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75FF"/>
                </a:solidFill>
                <a:latin typeface="Microsoft Ya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启动会话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32918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输入：选择学习目标：llm_agent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0075FF"/>
                </a:solidFill>
                <a:latin typeface="Microsoft YaHei"/>
              </a:rPr>
              <a:t>输出：系统生成 5 步学习路径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65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Microsoft YaHe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965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学生提问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468880"/>
            <a:ext cx="32918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6060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输入：“我不懂 ReAct”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2004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Microsoft YaHei"/>
              </a:rPr>
              <a:t>输出：情感检测：engagement 上升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65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Microsoft YaHei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65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智能回应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468880"/>
            <a:ext cx="32918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060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输入：苏格拉底式反诘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Microsoft YaHei"/>
              </a:rPr>
              <a:t>输出：脚手架 L4 → 完整示范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60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8B5CF6"/>
                </a:solidFill>
                <a:latin typeface="Microsoft YaHei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1605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答题诊断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63440"/>
            <a:ext cx="329184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输入：答对率 80%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9496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Microsoft YaHei"/>
              </a:rPr>
              <a:t>输出：CSN 提升掌握度到 0.7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160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  <a:latin typeface="Microsoft YaHei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1605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动态规划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663440"/>
            <a:ext cx="329184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8006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输入：Bandit 推荐下一步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39496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Microsoft YaHei"/>
              </a:rPr>
              <a:t>输出：ZPD 区间内 + 路径优化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160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75FF"/>
                </a:solidFill>
                <a:latin typeface="Microsoft YaHei"/>
              </a:rPr>
              <a:t>Step 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1605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反思总结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4663440"/>
            <a:ext cx="32918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48006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输入：生成学习报告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39496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0075FF"/>
                </a:solidFill>
                <a:latin typeface="Microsoft YaHei"/>
              </a:rPr>
              <a:t>输出：强项 / 弱项 / 下一步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评测对比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智径 vs 传统 LLM 套壳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54864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维度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4114800" cy="54864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828800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传统 LLM 套壳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828800"/>
            <a:ext cx="5029200" cy="54864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828800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智径 AdaptivePath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0" y="24688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24688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学情诊断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688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4688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CSN 三模型融合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260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43200" y="29260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9260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260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路径规划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9260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静态或无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260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Bandit 在线学习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3832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43200" y="33832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0" y="33832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3832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教学方式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3832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灌输式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苏格拉底式反诘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8404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43200" y="38404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0" y="38404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8404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情感适配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38404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忽视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8404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5 维实时感知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976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743200" y="42976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2976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2976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可解释性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2976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黑盒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42976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每次推荐有理由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7548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743200" y="47548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58000" y="47548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7548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长期记忆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47548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短期对话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47548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3 层记忆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2120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743200" y="52120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58000" y="52120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52120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评测指标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2120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2120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多维报告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56692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743200" y="56692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858000" y="56692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6692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教学理论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0" y="56692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56692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ZPD + Bloom + Scaffolding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💎 智径 AdaptivePath 在 8 个维度全面超越传统方案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06 市场与商业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TAM/SAM/SOM + 多元商业模式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🎯 市场空间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502920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371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075FF"/>
                </a:solidFill>
                <a:latin typeface="Microsoft YaHei"/>
              </a:rPr>
              <a:t>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774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Microsoft YaHei"/>
              </a:rPr>
              <a:t>360 亿元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346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中国 K12 + 高校 STEM 学生 × 300 元/年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502920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1371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0B981"/>
                </a:solidFill>
                <a:latin typeface="Microsoft YaHe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56616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Microsoft YaHei"/>
              </a:rPr>
              <a:t>108 亿元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02336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STEM 30% 渗透率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63440"/>
            <a:ext cx="502920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371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59E0B"/>
                </a:solidFill>
                <a:latin typeface="Microsoft YaHei"/>
              </a:rPr>
              <a:t>SOM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75488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Microsoft YaHei"/>
              </a:rPr>
              <a:t>5400 万元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120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前 3 年 0.5% 份额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7373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💰 商业模式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286000"/>
            <a:ext cx="576072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37744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075FF"/>
                </a:solidFill>
                <a:latin typeface="Microsoft YaHei"/>
              </a:rPr>
              <a:t>B2B 机构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83464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5-20万/校/年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3474720"/>
            <a:ext cx="576072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356616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Microsoft YaHei"/>
              </a:rPr>
              <a:t>B2C 订阅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56616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10B981"/>
                </a:solidFill>
                <a:latin typeface="Microsoft YaHei"/>
              </a:rPr>
              <a:t>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023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29元/月, 299元/年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4663440"/>
            <a:ext cx="576072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754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Microsoft YaHei"/>
              </a:rPr>
              <a:t>B2B2C 预装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75488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Microsoft YaHei"/>
              </a:rPr>
              <a:t>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212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硬件厂商分成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📈 财务预测：2026 收入 50万 / 2027 收入 500万 / 2028 收入 3000万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07 团队与未来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高校背景 + 多学科交叉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👨‍💼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主负责人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00400"/>
            <a:ext cx="14630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整体战略与商务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商科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79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Microsoft YaHei"/>
              </a:rPr>
              <a:t>👨‍💻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Microsoft YaHei"/>
              </a:rPr>
              <a:t>技术负责人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3239" y="3200400"/>
            <a:ext cx="14630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19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核心架构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19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Microsoft YaHei"/>
              </a:rP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Microsoft YaHei"/>
              </a:rPr>
              <a:t>AI 算法负责人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3200400"/>
            <a:ext cx="14630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认知诊断 + 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19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8B5CF6"/>
                </a:solidFill>
                <a:latin typeface="Microsoft YaHei"/>
              </a:rPr>
              <a:t>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8B5CF6"/>
                </a:solidFill>
                <a:latin typeface="Microsoft YaHei"/>
              </a:rPr>
              <a:t>教育学顾问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79" y="3200400"/>
            <a:ext cx="146304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59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认知科学理论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59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教育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EF4444"/>
                </a:solidFill>
                <a:latin typeface="Microsoft YaHei"/>
              </a:rPr>
              <a:t>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Microsoft YaHei"/>
              </a:rPr>
              <a:t>产品负责人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3200400"/>
            <a:ext cx="146304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用户体验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设计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🗺️ 发展路线图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937760"/>
            <a:ext cx="3657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短期 3M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5440680"/>
            <a:ext cx="14630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扩展学科：数学/物理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与 1-2 所中学合作试用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4937760"/>
            <a:ext cx="3657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Microsoft YaHei"/>
              </a:rPr>
              <a:t>中期 6M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94960" y="5440680"/>
            <a:ext cx="14630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B2B 商务拓展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多模态支持（图像/语音）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38160" y="4937760"/>
            <a:ext cx="3657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3816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Microsoft YaHei"/>
              </a:rPr>
              <a:t>长期 12M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5440680"/>
            <a:ext cx="14630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海外拓展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教师端 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Microsoft Ya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0075FF"/>
                </a:solidFill>
                <a:latin typeface="Microsoft YaHei"/>
              </a:rPr>
              <a:t>感谢聆听 · 期待与您深入交流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认知模型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知识节点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题库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100+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代码文件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代码行数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智径 AdaptivePath：让每个学生都拥有一个『既懂知识又懂学生』的 AI 导师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Microsoft YaHei"/>
              </a:rPr>
              <a:t>GitHub: github.com/[team]/adaptive-path    ·    团队: 智径团队    ·    学校: [待填]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邮箱: [email]    ·    QQ: [qq]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